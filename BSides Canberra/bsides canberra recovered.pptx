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31"/>
  </p:notesMasterIdLst>
  <p:sldIdLst>
    <p:sldId id="256" r:id="rId2"/>
    <p:sldId id="257" r:id="rId3"/>
    <p:sldId id="261" r:id="rId4"/>
    <p:sldId id="271" r:id="rId5"/>
    <p:sldId id="269" r:id="rId6"/>
    <p:sldId id="258" r:id="rId7"/>
    <p:sldId id="259" r:id="rId8"/>
    <p:sldId id="260" r:id="rId9"/>
    <p:sldId id="277" r:id="rId10"/>
    <p:sldId id="278" r:id="rId11"/>
    <p:sldId id="279" r:id="rId12"/>
    <p:sldId id="275" r:id="rId13"/>
    <p:sldId id="280" r:id="rId14"/>
    <p:sldId id="262" r:id="rId15"/>
    <p:sldId id="276" r:id="rId16"/>
    <p:sldId id="270" r:id="rId17"/>
    <p:sldId id="263" r:id="rId18"/>
    <p:sldId id="265" r:id="rId19"/>
    <p:sldId id="266" r:id="rId20"/>
    <p:sldId id="282" r:id="rId21"/>
    <p:sldId id="272" r:id="rId22"/>
    <p:sldId id="284" r:id="rId23"/>
    <p:sldId id="283" r:id="rId24"/>
    <p:sldId id="264" r:id="rId25"/>
    <p:sldId id="273" r:id="rId26"/>
    <p:sldId id="274" r:id="rId27"/>
    <p:sldId id="267" r:id="rId28"/>
    <p:sldId id="281" r:id="rId29"/>
    <p:sldId id="268"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78693" autoAdjust="0"/>
  </p:normalViewPr>
  <p:slideViewPr>
    <p:cSldViewPr snapToGrid="0">
      <p:cViewPr varScale="1">
        <p:scale>
          <a:sx n="87" d="100"/>
          <a:sy n="87" d="100"/>
        </p:scale>
        <p:origin x="856" y="4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7FB934-9F04-4E62-A381-2D6469355EC4}"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9CF4E9-076D-4D8F-AE6F-492E73080AA0}" type="slidenum">
              <a:rPr lang="en-US" smtClean="0"/>
              <a:t>‹#›</a:t>
            </a:fld>
            <a:endParaRPr lang="en-US"/>
          </a:p>
        </p:txBody>
      </p:sp>
    </p:spTree>
    <p:extLst>
      <p:ext uri="{BB962C8B-B14F-4D97-AF65-F5344CB8AC3E}">
        <p14:creationId xmlns:p14="http://schemas.microsoft.com/office/powerpoint/2010/main" val="1061161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9CF4E9-076D-4D8F-AE6F-492E73080AA0}" type="slidenum">
              <a:rPr lang="en-US" smtClean="0"/>
              <a:t>2</a:t>
            </a:fld>
            <a:endParaRPr lang="en-US"/>
          </a:p>
        </p:txBody>
      </p:sp>
    </p:spTree>
    <p:extLst>
      <p:ext uri="{BB962C8B-B14F-4D97-AF65-F5344CB8AC3E}">
        <p14:creationId xmlns:p14="http://schemas.microsoft.com/office/powerpoint/2010/main" val="882194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Pretty much every organization has a detection mechanism for at least one of these items. The </a:t>
            </a:r>
            <a:r>
              <a:rPr lang="en-US" dirty="0" err="1"/>
              <a:t>cron</a:t>
            </a:r>
            <a:r>
              <a:rPr lang="en-US" dirty="0"/>
              <a:t> watch, new service unit, the </a:t>
            </a:r>
            <a:r>
              <a:rPr lang="en-US" dirty="0" err="1"/>
              <a:t>authorized_keys</a:t>
            </a:r>
            <a:r>
              <a:rPr lang="en-US" dirty="0"/>
              <a:t> alert. These are great detections to have however, there are more ways for a threat actor to establish persistence</a:t>
            </a:r>
          </a:p>
        </p:txBody>
      </p:sp>
      <p:sp>
        <p:nvSpPr>
          <p:cNvPr id="4" name="Slide Number Placeholder 3"/>
          <p:cNvSpPr>
            <a:spLocks noGrp="1"/>
          </p:cNvSpPr>
          <p:nvPr>
            <p:ph type="sldNum" sz="quarter" idx="5"/>
          </p:nvPr>
        </p:nvSpPr>
        <p:spPr/>
        <p:txBody>
          <a:bodyPr/>
          <a:lstStyle/>
          <a:p>
            <a:fld id="{589CF4E9-076D-4D8F-AE6F-492E73080AA0}" type="slidenum">
              <a:rPr lang="en-US" smtClean="0"/>
              <a:t>3</a:t>
            </a:fld>
            <a:endParaRPr lang="en-US"/>
          </a:p>
        </p:txBody>
      </p:sp>
    </p:spTree>
    <p:extLst>
      <p:ext uri="{BB962C8B-B14F-4D97-AF65-F5344CB8AC3E}">
        <p14:creationId xmlns:p14="http://schemas.microsoft.com/office/powerpoint/2010/main" val="2370559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OS gives persistence a dozen other methods to exploit that most logging pipelines won’t touch. PAM and linker preloading files have been around for decades. The gap is that we keep adding detections for the most common methods whilst these side door methods stay unmonitored. Today we will dive into two of these which are PAM configuration and dynamic linkers. With each of these, we will look at how they work, how they’re exploited, watch it happen, and what to log and hunt to catch it.</a:t>
            </a:r>
          </a:p>
        </p:txBody>
      </p:sp>
      <p:sp>
        <p:nvSpPr>
          <p:cNvPr id="4" name="Slide Number Placeholder 3"/>
          <p:cNvSpPr>
            <a:spLocks noGrp="1"/>
          </p:cNvSpPr>
          <p:nvPr>
            <p:ph type="sldNum" sz="quarter" idx="5"/>
          </p:nvPr>
        </p:nvSpPr>
        <p:spPr/>
        <p:txBody>
          <a:bodyPr/>
          <a:lstStyle/>
          <a:p>
            <a:fld id="{589CF4E9-076D-4D8F-AE6F-492E73080AA0}" type="slidenum">
              <a:rPr lang="en-US" smtClean="0"/>
              <a:t>4</a:t>
            </a:fld>
            <a:endParaRPr lang="en-US"/>
          </a:p>
        </p:txBody>
      </p:sp>
    </p:spTree>
    <p:extLst>
      <p:ext uri="{BB962C8B-B14F-4D97-AF65-F5344CB8AC3E}">
        <p14:creationId xmlns:p14="http://schemas.microsoft.com/office/powerpoint/2010/main" val="3508757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 note on the setup, I used Ubuntu 26.04 LTS on two VMs. It’s important to note that Red Hat system paths differ with a note on my GitHub repo. The key point is that this is a stock install, no special configuration, and stock is exactly what is wrong.</a:t>
            </a:r>
          </a:p>
        </p:txBody>
      </p:sp>
      <p:sp>
        <p:nvSpPr>
          <p:cNvPr id="4" name="Slide Number Placeholder 3"/>
          <p:cNvSpPr>
            <a:spLocks noGrp="1"/>
          </p:cNvSpPr>
          <p:nvPr>
            <p:ph type="sldNum" sz="quarter" idx="5"/>
          </p:nvPr>
        </p:nvSpPr>
        <p:spPr/>
        <p:txBody>
          <a:bodyPr/>
          <a:lstStyle/>
          <a:p>
            <a:fld id="{589CF4E9-076D-4D8F-AE6F-492E73080AA0}" type="slidenum">
              <a:rPr lang="en-US" smtClean="0"/>
              <a:t>5</a:t>
            </a:fld>
            <a:endParaRPr lang="en-US"/>
          </a:p>
        </p:txBody>
      </p:sp>
    </p:spTree>
    <p:extLst>
      <p:ext uri="{BB962C8B-B14F-4D97-AF65-F5344CB8AC3E}">
        <p14:creationId xmlns:p14="http://schemas.microsoft.com/office/powerpoint/2010/main" val="2278755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PAM is the authentication abstraction layer — every auth event on this box goes through it. SSH login, </a:t>
            </a:r>
            <a:r>
              <a:rPr lang="en-US" dirty="0" err="1"/>
              <a:t>sudo</a:t>
            </a:r>
            <a:r>
              <a:rPr lang="en-US" dirty="0"/>
              <a:t>, </a:t>
            </a:r>
            <a:r>
              <a:rPr lang="en-US" dirty="0" err="1"/>
              <a:t>su</a:t>
            </a:r>
            <a:r>
              <a:rPr lang="en-US" dirty="0"/>
              <a:t>, </a:t>
            </a:r>
            <a:r>
              <a:rPr lang="en-US" dirty="0" err="1"/>
              <a:t>cron</a:t>
            </a:r>
            <a:r>
              <a:rPr lang="en-US" dirty="0"/>
              <a:t>, even cups. It reads a config file for that service in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etc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pam.d</a:t>
            </a:r>
            <a:r>
              <a:rPr lang="en-US" sz="1200" kern="1200" dirty="0">
                <a:solidFill>
                  <a:schemeClr val="tx1"/>
                </a:solidFill>
                <a:latin typeface="+mn-lt"/>
                <a:ea typeface="+mn-ea"/>
                <a:cs typeface="+mn-cs"/>
              </a:rPr>
              <a:t>/</a:t>
            </a:r>
            <a:r>
              <a:rPr lang="en-US" dirty="0"/>
              <a:t>, then loads the modules listed there as shared libraries. There are four management groups — auth is used for checking if a user is who they say they are, account is used for verification using constraints such as membership, time of day, whether account is local or remote </a:t>
            </a:r>
            <a:r>
              <a:rPr lang="en-US" dirty="0" err="1"/>
              <a:t>etc</a:t>
            </a:r>
            <a:r>
              <a:rPr lang="en-US" dirty="0"/>
              <a:t>, password is responsible for any functionality needed for updating passwords for a service, session which is what I will be focusing on and performs actions during the setup or cleanup of a given service for a given user. Then each line in the config says which module handles it and what happens if it fails which is where control flags come in. If a Required module does not succeed, it will fail only after the modules after it are invoked, if a requisite module fails, the operation fails and no other modules are invoked. If a sufficient module succeeds, it is enough to pass the checks for that service and all modules below that are listed as sufficient are not invoke. Optional will only cause an operation to fail if it’s the only module in the stack </a:t>
            </a:r>
          </a:p>
        </p:txBody>
      </p:sp>
      <p:sp>
        <p:nvSpPr>
          <p:cNvPr id="4" name="Slide Number Placeholder 3"/>
          <p:cNvSpPr>
            <a:spLocks noGrp="1"/>
          </p:cNvSpPr>
          <p:nvPr>
            <p:ph type="sldNum" sz="quarter" idx="5"/>
          </p:nvPr>
        </p:nvSpPr>
        <p:spPr/>
        <p:txBody>
          <a:bodyPr/>
          <a:lstStyle/>
          <a:p>
            <a:fld id="{589CF4E9-076D-4D8F-AE6F-492E73080AA0}" type="slidenum">
              <a:rPr lang="en-US" smtClean="0"/>
              <a:t>6</a:t>
            </a:fld>
            <a:endParaRPr lang="en-US"/>
          </a:p>
        </p:txBody>
      </p:sp>
    </p:spTree>
    <p:extLst>
      <p:ext uri="{BB962C8B-B14F-4D97-AF65-F5344CB8AC3E}">
        <p14:creationId xmlns:p14="http://schemas.microsoft.com/office/powerpoint/2010/main" val="3477506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in. The first is config manipulation. Adding a line into /</a:t>
            </a:r>
            <a:r>
              <a:rPr lang="en-US" dirty="0" err="1"/>
              <a:t>etc</a:t>
            </a:r>
            <a:r>
              <a:rPr lang="en-US" dirty="0"/>
              <a:t>/</a:t>
            </a:r>
            <a:r>
              <a:rPr lang="en-US" dirty="0" err="1"/>
              <a:t>pam.d</a:t>
            </a:r>
            <a:r>
              <a:rPr lang="en-US" dirty="0"/>
              <a:t>/</a:t>
            </a:r>
            <a:r>
              <a:rPr lang="en-US" dirty="0" err="1"/>
              <a:t>sshd</a:t>
            </a:r>
            <a:r>
              <a:rPr lang="en-US" dirty="0"/>
              <a:t> using </a:t>
            </a:r>
            <a:r>
              <a:rPr lang="en-US" dirty="0" err="1"/>
              <a:t>pam_exec</a:t>
            </a:r>
            <a:r>
              <a:rPr lang="en-US" dirty="0"/>
              <a:t> which is a legitimate, package-shipped module and point that at an attacker-controlled script. Doing this makes the script run as root and is run before the user sees any prompt. The other method is module tampering where you swap out the actual PAM .so file to add a backdoor password or credential harvester. I won’t be touching on the second method but it’s worth noting that </a:t>
            </a:r>
            <a:r>
              <a:rPr lang="en-US" dirty="0" err="1"/>
              <a:t>dpkg</a:t>
            </a:r>
            <a:r>
              <a:rPr lang="en-US" dirty="0"/>
              <a:t> –V catches it as the binary hash changes and the package manager knows.</a:t>
            </a:r>
          </a:p>
        </p:txBody>
      </p:sp>
      <p:sp>
        <p:nvSpPr>
          <p:cNvPr id="4" name="Slide Number Placeholder 3"/>
          <p:cNvSpPr>
            <a:spLocks noGrp="1"/>
          </p:cNvSpPr>
          <p:nvPr>
            <p:ph type="sldNum" sz="quarter" idx="5"/>
          </p:nvPr>
        </p:nvSpPr>
        <p:spPr/>
        <p:txBody>
          <a:bodyPr/>
          <a:lstStyle/>
          <a:p>
            <a:fld id="{589CF4E9-076D-4D8F-AE6F-492E73080AA0}" type="slidenum">
              <a:rPr lang="en-US" smtClean="0"/>
              <a:t>7</a:t>
            </a:fld>
            <a:endParaRPr lang="en-US"/>
          </a:p>
        </p:txBody>
      </p:sp>
    </p:spTree>
    <p:extLst>
      <p:ext uri="{BB962C8B-B14F-4D97-AF65-F5344CB8AC3E}">
        <p14:creationId xmlns:p14="http://schemas.microsoft.com/office/powerpoint/2010/main" val="68808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9CF4E9-076D-4D8F-AE6F-492E73080AA0}" type="slidenum">
              <a:rPr lang="en-US" smtClean="0"/>
              <a:t>8</a:t>
            </a:fld>
            <a:endParaRPr lang="en-US"/>
          </a:p>
        </p:txBody>
      </p:sp>
    </p:spTree>
    <p:extLst>
      <p:ext uri="{BB962C8B-B14F-4D97-AF65-F5344CB8AC3E}">
        <p14:creationId xmlns:p14="http://schemas.microsoft.com/office/powerpoint/2010/main" val="3511226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72B7D-F1C4-C2CA-F4F0-8688876BD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5657D9-100A-AA30-F0A9-BFAE6298C0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5155C-6823-0AD2-43D7-8FBBF3DDD3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A55AF9-E28B-DE49-30B3-58E10AECF2A1}"/>
              </a:ext>
            </a:extLst>
          </p:cNvPr>
          <p:cNvSpPr>
            <a:spLocks noGrp="1"/>
          </p:cNvSpPr>
          <p:nvPr>
            <p:ph type="sldNum" sz="quarter" idx="5"/>
          </p:nvPr>
        </p:nvSpPr>
        <p:spPr/>
        <p:txBody>
          <a:bodyPr/>
          <a:lstStyle/>
          <a:p>
            <a:fld id="{589CF4E9-076D-4D8F-AE6F-492E73080AA0}" type="slidenum">
              <a:rPr lang="en-US" smtClean="0"/>
              <a:t>9</a:t>
            </a:fld>
            <a:endParaRPr lang="en-US"/>
          </a:p>
        </p:txBody>
      </p:sp>
    </p:spTree>
    <p:extLst>
      <p:ext uri="{BB962C8B-B14F-4D97-AF65-F5344CB8AC3E}">
        <p14:creationId xmlns:p14="http://schemas.microsoft.com/office/powerpoint/2010/main" val="834038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3959C-CDA6-093E-93F0-C72752860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C39D61-536B-9B84-AABE-AC9E4CE7D3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CD2D80-AF47-7D4C-3CAC-3042B9A9BB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81E95C-5E00-F5FB-D298-528ABD5D5E75}"/>
              </a:ext>
            </a:extLst>
          </p:cNvPr>
          <p:cNvSpPr>
            <a:spLocks noGrp="1"/>
          </p:cNvSpPr>
          <p:nvPr>
            <p:ph type="sldNum" sz="quarter" idx="5"/>
          </p:nvPr>
        </p:nvSpPr>
        <p:spPr/>
        <p:txBody>
          <a:bodyPr/>
          <a:lstStyle/>
          <a:p>
            <a:fld id="{589CF4E9-076D-4D8F-AE6F-492E73080AA0}" type="slidenum">
              <a:rPr lang="en-US" smtClean="0"/>
              <a:t>10</a:t>
            </a:fld>
            <a:endParaRPr lang="en-US"/>
          </a:p>
        </p:txBody>
      </p:sp>
    </p:spTree>
    <p:extLst>
      <p:ext uri="{BB962C8B-B14F-4D97-AF65-F5344CB8AC3E}">
        <p14:creationId xmlns:p14="http://schemas.microsoft.com/office/powerpoint/2010/main" val="1779603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1E4A9-1A4C-C9B3-B838-ED953C8C40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44DCC-F036-B651-906F-55105FFB6F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60A4E-ACF5-F2BD-C7A3-D349F94AB0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177355-0A52-A710-7A87-5D4D590A67D0}"/>
              </a:ext>
            </a:extLst>
          </p:cNvPr>
          <p:cNvSpPr>
            <a:spLocks noGrp="1"/>
          </p:cNvSpPr>
          <p:nvPr>
            <p:ph type="sldNum" sz="quarter" idx="5"/>
          </p:nvPr>
        </p:nvSpPr>
        <p:spPr/>
        <p:txBody>
          <a:bodyPr/>
          <a:lstStyle/>
          <a:p>
            <a:fld id="{589CF4E9-076D-4D8F-AE6F-492E73080AA0}" type="slidenum">
              <a:rPr lang="en-US" smtClean="0"/>
              <a:t>11</a:t>
            </a:fld>
            <a:endParaRPr lang="en-US"/>
          </a:p>
        </p:txBody>
      </p:sp>
    </p:spTree>
    <p:extLst>
      <p:ext uri="{BB962C8B-B14F-4D97-AF65-F5344CB8AC3E}">
        <p14:creationId xmlns:p14="http://schemas.microsoft.com/office/powerpoint/2010/main" val="1697756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B9149-BE13-B156-1E47-A63386C24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2DFC7-4AF1-6201-A623-57B6E8B50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82EB1-372A-0B65-E6E3-BCBB355DDB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F4A0D4-141D-A0EE-03AB-C3CEE8056926}"/>
              </a:ext>
            </a:extLst>
          </p:cNvPr>
          <p:cNvSpPr>
            <a:spLocks noGrp="1"/>
          </p:cNvSpPr>
          <p:nvPr>
            <p:ph type="sldNum" sz="quarter" idx="5"/>
          </p:nvPr>
        </p:nvSpPr>
        <p:spPr/>
        <p:txBody>
          <a:bodyPr/>
          <a:lstStyle/>
          <a:p>
            <a:fld id="{589CF4E9-076D-4D8F-AE6F-492E73080AA0}" type="slidenum">
              <a:rPr lang="en-US" smtClean="0"/>
              <a:t>12</a:t>
            </a:fld>
            <a:endParaRPr lang="en-US"/>
          </a:p>
        </p:txBody>
      </p:sp>
    </p:spTree>
    <p:extLst>
      <p:ext uri="{BB962C8B-B14F-4D97-AF65-F5344CB8AC3E}">
        <p14:creationId xmlns:p14="http://schemas.microsoft.com/office/powerpoint/2010/main" val="1540153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2E4DF-F9EF-44C5-45DB-C1BE5CA25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1042DE-1846-E391-C372-1AEDD5E0A7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F2599-41F7-5653-95B4-8DE89130DA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127F76-7A74-56DE-5C06-4845F49AE00E}"/>
              </a:ext>
            </a:extLst>
          </p:cNvPr>
          <p:cNvSpPr>
            <a:spLocks noGrp="1"/>
          </p:cNvSpPr>
          <p:nvPr>
            <p:ph type="sldNum" sz="quarter" idx="5"/>
          </p:nvPr>
        </p:nvSpPr>
        <p:spPr/>
        <p:txBody>
          <a:bodyPr/>
          <a:lstStyle/>
          <a:p>
            <a:fld id="{589CF4E9-076D-4D8F-AE6F-492E73080AA0}" type="slidenum">
              <a:rPr lang="en-US" smtClean="0"/>
              <a:t>13</a:t>
            </a:fld>
            <a:endParaRPr lang="en-US"/>
          </a:p>
        </p:txBody>
      </p:sp>
    </p:spTree>
    <p:extLst>
      <p:ext uri="{BB962C8B-B14F-4D97-AF65-F5344CB8AC3E}">
        <p14:creationId xmlns:p14="http://schemas.microsoft.com/office/powerpoint/2010/main" val="367632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9CF4E9-076D-4D8F-AE6F-492E73080AA0}" type="slidenum">
              <a:rPr lang="en-US" smtClean="0"/>
              <a:t>14</a:t>
            </a:fld>
            <a:endParaRPr lang="en-US"/>
          </a:p>
        </p:txBody>
      </p:sp>
    </p:spTree>
    <p:extLst>
      <p:ext uri="{BB962C8B-B14F-4D97-AF65-F5344CB8AC3E}">
        <p14:creationId xmlns:p14="http://schemas.microsoft.com/office/powerpoint/2010/main" val="3537859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vector has the same idea but goes after a different layer of the operating system however, this one is more unsettling because your tools are part of the attack surface.</a:t>
            </a:r>
          </a:p>
        </p:txBody>
      </p:sp>
      <p:sp>
        <p:nvSpPr>
          <p:cNvPr id="4" name="Slide Number Placeholder 3"/>
          <p:cNvSpPr>
            <a:spLocks noGrp="1"/>
          </p:cNvSpPr>
          <p:nvPr>
            <p:ph type="sldNum" sz="quarter" idx="5"/>
          </p:nvPr>
        </p:nvSpPr>
        <p:spPr/>
        <p:txBody>
          <a:bodyPr/>
          <a:lstStyle/>
          <a:p>
            <a:fld id="{589CF4E9-076D-4D8F-AE6F-492E73080AA0}" type="slidenum">
              <a:rPr lang="en-US" smtClean="0"/>
              <a:t>16</a:t>
            </a:fld>
            <a:endParaRPr lang="en-US"/>
          </a:p>
        </p:txBody>
      </p:sp>
    </p:spTree>
    <p:extLst>
      <p:ext uri="{BB962C8B-B14F-4D97-AF65-F5344CB8AC3E}">
        <p14:creationId xmlns:p14="http://schemas.microsoft.com/office/powerpoint/2010/main" val="28750399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dynamic linker, which is ld.so, is what resolves shared library symbols at runtime. Every time a dynamically linked binary calls a </a:t>
            </a:r>
            <a:r>
              <a:rPr lang="en-US" dirty="0" err="1"/>
              <a:t>libc</a:t>
            </a:r>
            <a:r>
              <a:rPr lang="en-US" dirty="0"/>
              <a:t> function, it goes through the linker. LD_PRELOAD is a designed feature that lets you force a library to load first, before everything else. There are legitimate uses for this such as debugging and profiling. Malicious use on the other hand includes: overriding </a:t>
            </a:r>
            <a:r>
              <a:rPr lang="en-US" dirty="0" err="1"/>
              <a:t>libc</a:t>
            </a:r>
            <a:r>
              <a:rPr lang="en-US" dirty="0"/>
              <a:t> functions. Your tools will typically use the functions </a:t>
            </a:r>
            <a:r>
              <a:rPr lang="en-US" dirty="0" err="1"/>
              <a:t>readdir</a:t>
            </a:r>
            <a:r>
              <a:rPr lang="en-US" dirty="0"/>
              <a:t>, open, and stat to see what’s on the system. A hook on those functions can make files, processes, and network connections disappear from view. The persistence that makes it system-wide is one file: /</a:t>
            </a:r>
            <a:r>
              <a:rPr lang="en-US" dirty="0" err="1"/>
              <a:t>etc</a:t>
            </a:r>
            <a:r>
              <a:rPr lang="en-US" dirty="0"/>
              <a:t>/</a:t>
            </a:r>
            <a:r>
              <a:rPr lang="en-US" dirty="0" err="1"/>
              <a:t>ld.so.preload</a:t>
            </a:r>
            <a:r>
              <a:rPr lang="en-US" dirty="0"/>
              <a:t>. This file tells the linker to preload a library into every dynamically linked process. On most systems, this file simply should not exist. Its presence is the detection.</a:t>
            </a:r>
          </a:p>
        </p:txBody>
      </p:sp>
      <p:sp>
        <p:nvSpPr>
          <p:cNvPr id="4" name="Slide Number Placeholder 3"/>
          <p:cNvSpPr>
            <a:spLocks noGrp="1"/>
          </p:cNvSpPr>
          <p:nvPr>
            <p:ph type="sldNum" sz="quarter" idx="5"/>
          </p:nvPr>
        </p:nvSpPr>
        <p:spPr/>
        <p:txBody>
          <a:bodyPr/>
          <a:lstStyle/>
          <a:p>
            <a:fld id="{589CF4E9-076D-4D8F-AE6F-492E73080AA0}" type="slidenum">
              <a:rPr lang="en-US" smtClean="0"/>
              <a:t>17</a:t>
            </a:fld>
            <a:endParaRPr lang="en-US"/>
          </a:p>
        </p:txBody>
      </p:sp>
    </p:spTree>
    <p:extLst>
      <p:ext uri="{BB962C8B-B14F-4D97-AF65-F5344CB8AC3E}">
        <p14:creationId xmlns:p14="http://schemas.microsoft.com/office/powerpoint/2010/main" val="7029539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overrides </a:t>
            </a:r>
            <a:r>
              <a:rPr lang="en-US" dirty="0" err="1"/>
              <a:t>readdir</a:t>
            </a:r>
            <a:r>
              <a:rPr lang="en-US" dirty="0"/>
              <a:t> and readdir64 which is the directory-listing function that everything calls. So when you wire it into /</a:t>
            </a:r>
            <a:r>
              <a:rPr lang="en-US" dirty="0" err="1"/>
              <a:t>etc</a:t>
            </a:r>
            <a:r>
              <a:rPr lang="en-US" dirty="0"/>
              <a:t>/</a:t>
            </a:r>
            <a:r>
              <a:rPr lang="en-US" dirty="0" err="1"/>
              <a:t>ld.so.preload</a:t>
            </a:r>
            <a:r>
              <a:rPr lang="en-US" dirty="0"/>
              <a:t> it loads into every new process. This is why it is such an interesting method of exploitation, it is able to hook inside your tools. So when you call ls and point it to a directory, you’re calling the same hooked </a:t>
            </a:r>
            <a:r>
              <a:rPr lang="en-US" dirty="0" err="1"/>
              <a:t>readdir</a:t>
            </a:r>
            <a:r>
              <a:rPr lang="en-US" dirty="0"/>
              <a:t> function. Your find command and custom triage scripts do the same. The two things that escape are a statically linked binary which never touches the dynamic linker and memory.</a:t>
            </a:r>
          </a:p>
        </p:txBody>
      </p:sp>
      <p:sp>
        <p:nvSpPr>
          <p:cNvPr id="4" name="Slide Number Placeholder 3"/>
          <p:cNvSpPr>
            <a:spLocks noGrp="1"/>
          </p:cNvSpPr>
          <p:nvPr>
            <p:ph type="sldNum" sz="quarter" idx="5"/>
          </p:nvPr>
        </p:nvSpPr>
        <p:spPr/>
        <p:txBody>
          <a:bodyPr/>
          <a:lstStyle/>
          <a:p>
            <a:fld id="{589CF4E9-076D-4D8F-AE6F-492E73080AA0}" type="slidenum">
              <a:rPr lang="en-US" smtClean="0"/>
              <a:t>18</a:t>
            </a:fld>
            <a:endParaRPr lang="en-US"/>
          </a:p>
        </p:txBody>
      </p:sp>
    </p:spTree>
    <p:extLst>
      <p:ext uri="{BB962C8B-B14F-4D97-AF65-F5344CB8AC3E}">
        <p14:creationId xmlns:p14="http://schemas.microsoft.com/office/powerpoint/2010/main" val="2662894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3 file in /opt/</a:t>
            </a:r>
            <a:r>
              <a:rPr lang="en-US" dirty="0" err="1"/>
              <a:t>bsides</a:t>
            </a:r>
            <a:r>
              <a:rPr lang="en-US" dirty="0"/>
              <a:t> which we will look at. When we run ls –la /opt/</a:t>
            </a:r>
            <a:r>
              <a:rPr lang="en-US" dirty="0" err="1"/>
              <a:t>bsides</a:t>
            </a:r>
            <a:r>
              <a:rPr lang="en-US" dirty="0"/>
              <a:t> the </a:t>
            </a:r>
            <a:r>
              <a:rPr lang="en-US" dirty="0" err="1"/>
              <a:t>bsides_marker</a:t>
            </a:r>
            <a:r>
              <a:rPr lang="en-US" dirty="0"/>
              <a:t> file is gone.</a:t>
            </a:r>
          </a:p>
          <a:p>
            <a:r>
              <a:rPr lang="en-US" dirty="0"/>
              <a:t>There are only two file showing with ls –la as the hook filtered it. Everything your tools tell you about this directory is filtered through the hooked </a:t>
            </a:r>
            <a:r>
              <a:rPr lang="en-US" dirty="0" err="1"/>
              <a:t>readdir</a:t>
            </a:r>
            <a:r>
              <a:rPr lang="en-US" dirty="0"/>
              <a:t> function. On the other hand, if we use a tool like </a:t>
            </a:r>
            <a:r>
              <a:rPr lang="en-US" dirty="0" err="1"/>
              <a:t>busybox</a:t>
            </a:r>
            <a:r>
              <a:rPr lang="en-US" dirty="0"/>
              <a:t> which is a statically linked library</a:t>
            </a:r>
          </a:p>
        </p:txBody>
      </p:sp>
      <p:sp>
        <p:nvSpPr>
          <p:cNvPr id="4" name="Slide Number Placeholder 3"/>
          <p:cNvSpPr>
            <a:spLocks noGrp="1"/>
          </p:cNvSpPr>
          <p:nvPr>
            <p:ph type="sldNum" sz="quarter" idx="5"/>
          </p:nvPr>
        </p:nvSpPr>
        <p:spPr/>
        <p:txBody>
          <a:bodyPr/>
          <a:lstStyle/>
          <a:p>
            <a:fld id="{589CF4E9-076D-4D8F-AE6F-492E73080AA0}" type="slidenum">
              <a:rPr lang="en-US" smtClean="0"/>
              <a:t>19</a:t>
            </a:fld>
            <a:endParaRPr lang="en-US"/>
          </a:p>
        </p:txBody>
      </p:sp>
    </p:spTree>
    <p:extLst>
      <p:ext uri="{BB962C8B-B14F-4D97-AF65-F5344CB8AC3E}">
        <p14:creationId xmlns:p14="http://schemas.microsoft.com/office/powerpoint/2010/main" val="13039886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643B4-5485-699A-C410-E522919F3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05412-A335-AF77-B480-9B480EC20D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AECA8-8A2B-982C-2B33-69DA35D1B290}"/>
              </a:ext>
            </a:extLst>
          </p:cNvPr>
          <p:cNvSpPr>
            <a:spLocks noGrp="1"/>
          </p:cNvSpPr>
          <p:nvPr>
            <p:ph type="body" idx="1"/>
          </p:nvPr>
        </p:nvSpPr>
        <p:spPr/>
        <p:txBody>
          <a:bodyPr/>
          <a:lstStyle/>
          <a:p>
            <a:r>
              <a:rPr lang="en-US" dirty="0"/>
              <a:t>There are 3 file in /opt/</a:t>
            </a:r>
            <a:r>
              <a:rPr lang="en-US" dirty="0" err="1"/>
              <a:t>bsides</a:t>
            </a:r>
            <a:r>
              <a:rPr lang="en-US" dirty="0"/>
              <a:t> which we will look at. When we run ls –la /opt/</a:t>
            </a:r>
            <a:r>
              <a:rPr lang="en-US" dirty="0" err="1"/>
              <a:t>bsides</a:t>
            </a:r>
            <a:r>
              <a:rPr lang="en-US" dirty="0"/>
              <a:t> the </a:t>
            </a:r>
            <a:r>
              <a:rPr lang="en-US" dirty="0" err="1"/>
              <a:t>bsides_marker</a:t>
            </a:r>
            <a:r>
              <a:rPr lang="en-US" dirty="0"/>
              <a:t> file is gone.</a:t>
            </a:r>
          </a:p>
          <a:p>
            <a:r>
              <a:rPr lang="en-US" dirty="0"/>
              <a:t>There are only two file showing with ls –la as the hook filtered it. Everything your tools tell you about this directory is filtered through the hooked </a:t>
            </a:r>
            <a:r>
              <a:rPr lang="en-US" dirty="0" err="1"/>
              <a:t>readdir</a:t>
            </a:r>
            <a:r>
              <a:rPr lang="en-US" dirty="0"/>
              <a:t> function. On the other hand, if we use a tool like </a:t>
            </a:r>
            <a:r>
              <a:rPr lang="en-US" dirty="0" err="1"/>
              <a:t>busybox</a:t>
            </a:r>
            <a:r>
              <a:rPr lang="en-US" dirty="0"/>
              <a:t> which is a statically linked library</a:t>
            </a:r>
          </a:p>
        </p:txBody>
      </p:sp>
      <p:sp>
        <p:nvSpPr>
          <p:cNvPr id="4" name="Slide Number Placeholder 3">
            <a:extLst>
              <a:ext uri="{FF2B5EF4-FFF2-40B4-BE49-F238E27FC236}">
                <a16:creationId xmlns:a16="http://schemas.microsoft.com/office/drawing/2014/main" id="{B2D2AF4C-1087-DF95-4CE2-78758EC52381}"/>
              </a:ext>
            </a:extLst>
          </p:cNvPr>
          <p:cNvSpPr>
            <a:spLocks noGrp="1"/>
          </p:cNvSpPr>
          <p:nvPr>
            <p:ph type="sldNum" sz="quarter" idx="5"/>
          </p:nvPr>
        </p:nvSpPr>
        <p:spPr/>
        <p:txBody>
          <a:bodyPr/>
          <a:lstStyle/>
          <a:p>
            <a:fld id="{589CF4E9-076D-4D8F-AE6F-492E73080AA0}" type="slidenum">
              <a:rPr lang="en-US" smtClean="0"/>
              <a:t>20</a:t>
            </a:fld>
            <a:endParaRPr lang="en-US"/>
          </a:p>
        </p:txBody>
      </p:sp>
    </p:spTree>
    <p:extLst>
      <p:ext uri="{BB962C8B-B14F-4D97-AF65-F5344CB8AC3E}">
        <p14:creationId xmlns:p14="http://schemas.microsoft.com/office/powerpoint/2010/main" val="38582312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8AAC0-AD5B-065E-2642-0E7B2F97E0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10983-454B-711B-BF2D-32C3B67E4A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580C07-5AEB-15BB-A6F7-DE5D1C016C68}"/>
              </a:ext>
            </a:extLst>
          </p:cNvPr>
          <p:cNvSpPr>
            <a:spLocks noGrp="1"/>
          </p:cNvSpPr>
          <p:nvPr>
            <p:ph type="body" idx="1"/>
          </p:nvPr>
        </p:nvSpPr>
        <p:spPr/>
        <p:txBody>
          <a:bodyPr/>
          <a:lstStyle/>
          <a:p>
            <a:r>
              <a:rPr lang="en-US" dirty="0"/>
              <a:t>Let’s take a look and see the persistence behind this mechanism. Strange, if we run ls over /</a:t>
            </a:r>
            <a:r>
              <a:rPr lang="en-US" dirty="0" err="1"/>
              <a:t>etc</a:t>
            </a:r>
            <a:r>
              <a:rPr lang="en-US" dirty="0"/>
              <a:t> and grep the output and search for ld.so, we find that </a:t>
            </a:r>
            <a:r>
              <a:rPr lang="en-US" dirty="0" err="1"/>
              <a:t>ld.so.preload</a:t>
            </a:r>
            <a:r>
              <a:rPr lang="en-US" dirty="0"/>
              <a:t> does not exist</a:t>
            </a:r>
          </a:p>
          <a:p>
            <a:r>
              <a:rPr lang="en-US" dirty="0"/>
              <a:t>What if we run </a:t>
            </a:r>
            <a:r>
              <a:rPr lang="en-US" dirty="0" err="1"/>
              <a:t>busybox</a:t>
            </a:r>
            <a:r>
              <a:rPr lang="en-US" dirty="0"/>
              <a:t> over the directory? We find that this too was being hidden by the </a:t>
            </a:r>
            <a:r>
              <a:rPr lang="en-US" dirty="0" err="1"/>
              <a:t>ld_preload</a:t>
            </a:r>
            <a:r>
              <a:rPr lang="en-US" dirty="0"/>
              <a:t> mechanism. We can run cat over the </a:t>
            </a:r>
            <a:r>
              <a:rPr lang="en-US" dirty="0" err="1"/>
              <a:t>ld</a:t>
            </a:r>
            <a:r>
              <a:rPr lang="en-US" dirty="0"/>
              <a:t> preload file and this shows where the file points to</a:t>
            </a:r>
          </a:p>
        </p:txBody>
      </p:sp>
      <p:sp>
        <p:nvSpPr>
          <p:cNvPr id="4" name="Slide Number Placeholder 3">
            <a:extLst>
              <a:ext uri="{FF2B5EF4-FFF2-40B4-BE49-F238E27FC236}">
                <a16:creationId xmlns:a16="http://schemas.microsoft.com/office/drawing/2014/main" id="{B8B06106-8B04-FE85-851D-24CAB6324D44}"/>
              </a:ext>
            </a:extLst>
          </p:cNvPr>
          <p:cNvSpPr>
            <a:spLocks noGrp="1"/>
          </p:cNvSpPr>
          <p:nvPr>
            <p:ph type="sldNum" sz="quarter" idx="5"/>
          </p:nvPr>
        </p:nvSpPr>
        <p:spPr/>
        <p:txBody>
          <a:bodyPr/>
          <a:lstStyle/>
          <a:p>
            <a:fld id="{589CF4E9-076D-4D8F-AE6F-492E73080AA0}" type="slidenum">
              <a:rPr lang="en-US" smtClean="0"/>
              <a:t>21</a:t>
            </a:fld>
            <a:endParaRPr lang="en-US"/>
          </a:p>
        </p:txBody>
      </p:sp>
    </p:spTree>
    <p:extLst>
      <p:ext uri="{BB962C8B-B14F-4D97-AF65-F5344CB8AC3E}">
        <p14:creationId xmlns:p14="http://schemas.microsoft.com/office/powerpoint/2010/main" val="848816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BF1DF-D4CD-72BC-C906-BA8D1F396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DA5EB-169F-A5B9-0156-D24B3AFD9A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F26A7-3FE8-4E0D-5D6A-A948B510B371}"/>
              </a:ext>
            </a:extLst>
          </p:cNvPr>
          <p:cNvSpPr>
            <a:spLocks noGrp="1"/>
          </p:cNvSpPr>
          <p:nvPr>
            <p:ph type="body" idx="1"/>
          </p:nvPr>
        </p:nvSpPr>
        <p:spPr/>
        <p:txBody>
          <a:bodyPr/>
          <a:lstStyle/>
          <a:p>
            <a:r>
              <a:rPr lang="en-US" dirty="0"/>
              <a:t>Let’s take a look and see the persistence behind this mechanism. Strange, if we run ls over /</a:t>
            </a:r>
            <a:r>
              <a:rPr lang="en-US" dirty="0" err="1"/>
              <a:t>etc</a:t>
            </a:r>
            <a:r>
              <a:rPr lang="en-US" dirty="0"/>
              <a:t> and grep the output and search for ld.so, we find that </a:t>
            </a:r>
            <a:r>
              <a:rPr lang="en-US" dirty="0" err="1"/>
              <a:t>ld.so.preload</a:t>
            </a:r>
            <a:r>
              <a:rPr lang="en-US" dirty="0"/>
              <a:t> does not exist</a:t>
            </a:r>
          </a:p>
          <a:p>
            <a:r>
              <a:rPr lang="en-US" dirty="0"/>
              <a:t>What if we run </a:t>
            </a:r>
            <a:r>
              <a:rPr lang="en-US" dirty="0" err="1"/>
              <a:t>busybox</a:t>
            </a:r>
            <a:r>
              <a:rPr lang="en-US" dirty="0"/>
              <a:t> over the directory? We find that this too was being hidden by the </a:t>
            </a:r>
            <a:r>
              <a:rPr lang="en-US" dirty="0" err="1"/>
              <a:t>ld_preload</a:t>
            </a:r>
            <a:r>
              <a:rPr lang="en-US" dirty="0"/>
              <a:t> mechanism. We can run cat over the </a:t>
            </a:r>
            <a:r>
              <a:rPr lang="en-US" dirty="0" err="1"/>
              <a:t>ld</a:t>
            </a:r>
            <a:r>
              <a:rPr lang="en-US" dirty="0"/>
              <a:t> preload file and this shows where the file points to</a:t>
            </a:r>
          </a:p>
        </p:txBody>
      </p:sp>
      <p:sp>
        <p:nvSpPr>
          <p:cNvPr id="4" name="Slide Number Placeholder 3">
            <a:extLst>
              <a:ext uri="{FF2B5EF4-FFF2-40B4-BE49-F238E27FC236}">
                <a16:creationId xmlns:a16="http://schemas.microsoft.com/office/drawing/2014/main" id="{8DC9F7E3-0F4A-7A53-968D-36F63F858C8B}"/>
              </a:ext>
            </a:extLst>
          </p:cNvPr>
          <p:cNvSpPr>
            <a:spLocks noGrp="1"/>
          </p:cNvSpPr>
          <p:nvPr>
            <p:ph type="sldNum" sz="quarter" idx="5"/>
          </p:nvPr>
        </p:nvSpPr>
        <p:spPr/>
        <p:txBody>
          <a:bodyPr/>
          <a:lstStyle/>
          <a:p>
            <a:fld id="{589CF4E9-076D-4D8F-AE6F-492E73080AA0}" type="slidenum">
              <a:rPr lang="en-US" smtClean="0"/>
              <a:t>22</a:t>
            </a:fld>
            <a:endParaRPr lang="en-US"/>
          </a:p>
        </p:txBody>
      </p:sp>
    </p:spTree>
    <p:extLst>
      <p:ext uri="{BB962C8B-B14F-4D97-AF65-F5344CB8AC3E}">
        <p14:creationId xmlns:p14="http://schemas.microsoft.com/office/powerpoint/2010/main" val="25621918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52188-B059-F149-6718-B9FA255D94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0ACA5-02E3-6D80-A4F0-9C6E88529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6010F8-8ACE-AFF9-5123-7EC70280D0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FCE87B-5030-AFD3-730E-4F52847436B9}"/>
              </a:ext>
            </a:extLst>
          </p:cNvPr>
          <p:cNvSpPr>
            <a:spLocks noGrp="1"/>
          </p:cNvSpPr>
          <p:nvPr>
            <p:ph type="sldNum" sz="quarter" idx="5"/>
          </p:nvPr>
        </p:nvSpPr>
        <p:spPr/>
        <p:txBody>
          <a:bodyPr/>
          <a:lstStyle/>
          <a:p>
            <a:fld id="{589CF4E9-076D-4D8F-AE6F-492E73080AA0}" type="slidenum">
              <a:rPr lang="en-US" smtClean="0"/>
              <a:t>23</a:t>
            </a:fld>
            <a:endParaRPr lang="en-US"/>
          </a:p>
        </p:txBody>
      </p:sp>
    </p:spTree>
    <p:extLst>
      <p:ext uri="{BB962C8B-B14F-4D97-AF65-F5344CB8AC3E}">
        <p14:creationId xmlns:p14="http://schemas.microsoft.com/office/powerpoint/2010/main" val="4527244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five detection methods we can </a:t>
            </a:r>
            <a:r>
              <a:rPr lang="en-US" dirty="0" err="1"/>
              <a:t>utilise</a:t>
            </a:r>
            <a:r>
              <a:rPr lang="en-US" dirty="0"/>
              <a:t>: the first is checking the folder /</a:t>
            </a:r>
            <a:r>
              <a:rPr lang="en-US" dirty="0" err="1"/>
              <a:t>etc</a:t>
            </a:r>
            <a:r>
              <a:rPr lang="en-US" dirty="0"/>
              <a:t>/</a:t>
            </a:r>
            <a:r>
              <a:rPr lang="en-US" dirty="0" err="1"/>
              <a:t>ld.so.preload</a:t>
            </a:r>
            <a:r>
              <a:rPr lang="en-US" dirty="0"/>
              <a:t> which shouldn’t exist. You should baseline this on a clean build and the presence of the file is the detection. When you look at the </a:t>
            </a:r>
            <a:r>
              <a:rPr lang="en-US" dirty="0" err="1"/>
              <a:t>ctime</a:t>
            </a:r>
            <a:r>
              <a:rPr lang="en-US" dirty="0"/>
              <a:t>, this tells you when the threat actor arrived</a:t>
            </a:r>
          </a:p>
          <a:p>
            <a:r>
              <a:rPr lang="en-US" dirty="0"/>
              <a:t>The second is detecting the hooked library is owned by no package. You can use </a:t>
            </a:r>
            <a:r>
              <a:rPr lang="en-US" dirty="0" err="1"/>
              <a:t>dpkg</a:t>
            </a:r>
            <a:r>
              <a:rPr lang="en-US" dirty="0"/>
              <a:t> –S on the so file and returning nothing will show that nobody owns the package. </a:t>
            </a:r>
            <a:r>
              <a:rPr lang="en-US" dirty="0" err="1"/>
              <a:t>Unpackaed</a:t>
            </a:r>
            <a:r>
              <a:rPr lang="en-US" dirty="0"/>
              <a:t> files in system paths are a recurring pattern across this and the PAM vector.</a:t>
            </a:r>
          </a:p>
        </p:txBody>
      </p:sp>
      <p:sp>
        <p:nvSpPr>
          <p:cNvPr id="4" name="Slide Number Placeholder 3"/>
          <p:cNvSpPr>
            <a:spLocks noGrp="1"/>
          </p:cNvSpPr>
          <p:nvPr>
            <p:ph type="sldNum" sz="quarter" idx="5"/>
          </p:nvPr>
        </p:nvSpPr>
        <p:spPr/>
        <p:txBody>
          <a:bodyPr/>
          <a:lstStyle/>
          <a:p>
            <a:fld id="{589CF4E9-076D-4D8F-AE6F-492E73080AA0}" type="slidenum">
              <a:rPr lang="en-US" smtClean="0"/>
              <a:t>24</a:t>
            </a:fld>
            <a:endParaRPr lang="en-US"/>
          </a:p>
        </p:txBody>
      </p:sp>
    </p:spTree>
    <p:extLst>
      <p:ext uri="{BB962C8B-B14F-4D97-AF65-F5344CB8AC3E}">
        <p14:creationId xmlns:p14="http://schemas.microsoft.com/office/powerpoint/2010/main" val="23918129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0ADD-4B12-9B6C-C2EA-24A506CEC7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C4064-7FA6-53F2-F089-A5407984B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8C12F7-21DE-39C9-8538-FF9F82013396}"/>
              </a:ext>
            </a:extLst>
          </p:cNvPr>
          <p:cNvSpPr>
            <a:spLocks noGrp="1"/>
          </p:cNvSpPr>
          <p:nvPr>
            <p:ph type="body" idx="1"/>
          </p:nvPr>
        </p:nvSpPr>
        <p:spPr/>
        <p:txBody>
          <a:bodyPr/>
          <a:lstStyle/>
          <a:p>
            <a:r>
              <a:rPr lang="en-US" dirty="0"/>
              <a:t>The third method is to check /proc. The process environment and memory maps are harder to lie to than the filesystem because the hook intercepts filesystem calls, not kernel data structures. Checking live process maps for unmapped so files is a solid tactic.</a:t>
            </a:r>
          </a:p>
          <a:p>
            <a:r>
              <a:rPr lang="en-US" dirty="0"/>
              <a:t>The fourth method is using </a:t>
            </a:r>
            <a:r>
              <a:rPr lang="en-US" dirty="0" err="1"/>
              <a:t>auditd</a:t>
            </a:r>
            <a:r>
              <a:rPr lang="en-US" dirty="0"/>
              <a:t> on /</a:t>
            </a:r>
            <a:r>
              <a:rPr lang="en-US" dirty="0" err="1"/>
              <a:t>etc</a:t>
            </a:r>
            <a:r>
              <a:rPr lang="en-US" dirty="0"/>
              <a:t>/</a:t>
            </a:r>
            <a:r>
              <a:rPr lang="en-US" dirty="0" err="1"/>
              <a:t>ld.so.preload</a:t>
            </a:r>
            <a:r>
              <a:rPr lang="en-US" dirty="0"/>
              <a:t> and looking for files that have no reason for changing. Looking at the creation event catches when the file was installed.</a:t>
            </a:r>
          </a:p>
          <a:p>
            <a:r>
              <a:rPr lang="en-US" dirty="0"/>
              <a:t>Our fifth rule</a:t>
            </a:r>
          </a:p>
          <a:p>
            <a:r>
              <a:rPr lang="en-US" dirty="0"/>
              <a:t>If all else fails and you don’t trust your tools, you can do a memory capture and do analysis using volatility. Memory will show the mapping regardless of what the hooked filesystem tells you.</a:t>
            </a:r>
          </a:p>
          <a:p>
            <a:endParaRPr lang="en-US" dirty="0"/>
          </a:p>
        </p:txBody>
      </p:sp>
      <p:sp>
        <p:nvSpPr>
          <p:cNvPr id="4" name="Slide Number Placeholder 3">
            <a:extLst>
              <a:ext uri="{FF2B5EF4-FFF2-40B4-BE49-F238E27FC236}">
                <a16:creationId xmlns:a16="http://schemas.microsoft.com/office/drawing/2014/main" id="{E5C2C1F7-3B82-EAB2-0CA6-94044836F7B8}"/>
              </a:ext>
            </a:extLst>
          </p:cNvPr>
          <p:cNvSpPr>
            <a:spLocks noGrp="1"/>
          </p:cNvSpPr>
          <p:nvPr>
            <p:ph type="sldNum" sz="quarter" idx="5"/>
          </p:nvPr>
        </p:nvSpPr>
        <p:spPr/>
        <p:txBody>
          <a:bodyPr/>
          <a:lstStyle/>
          <a:p>
            <a:fld id="{589CF4E9-076D-4D8F-AE6F-492E73080AA0}" type="slidenum">
              <a:rPr lang="en-US" smtClean="0"/>
              <a:t>25</a:t>
            </a:fld>
            <a:endParaRPr lang="en-US"/>
          </a:p>
        </p:txBody>
      </p:sp>
    </p:spTree>
    <p:extLst>
      <p:ext uri="{BB962C8B-B14F-4D97-AF65-F5344CB8AC3E}">
        <p14:creationId xmlns:p14="http://schemas.microsoft.com/office/powerpoint/2010/main" val="8975986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ED6C6-78CE-9466-333D-E5B4DC862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06338-5214-974D-FA5C-BD1778FD3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91D1A-749A-0720-0E65-9E7F3A306D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3DD735-012B-2136-FD12-3E0FFB4C16F0}"/>
              </a:ext>
            </a:extLst>
          </p:cNvPr>
          <p:cNvSpPr>
            <a:spLocks noGrp="1"/>
          </p:cNvSpPr>
          <p:nvPr>
            <p:ph type="sldNum" sz="quarter" idx="5"/>
          </p:nvPr>
        </p:nvSpPr>
        <p:spPr/>
        <p:txBody>
          <a:bodyPr/>
          <a:lstStyle/>
          <a:p>
            <a:fld id="{589CF4E9-076D-4D8F-AE6F-492E73080AA0}" type="slidenum">
              <a:rPr lang="en-US" smtClean="0"/>
              <a:t>26</a:t>
            </a:fld>
            <a:endParaRPr lang="en-US"/>
          </a:p>
        </p:txBody>
      </p:sp>
    </p:spTree>
    <p:extLst>
      <p:ext uri="{BB962C8B-B14F-4D97-AF65-F5344CB8AC3E}">
        <p14:creationId xmlns:p14="http://schemas.microsoft.com/office/powerpoint/2010/main" val="40694954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today comes back to one thing: the OS gives you ground truth, if you know where to look. Across both vectors the same small toolkit wins — package verification, file integrity on a handful of config locations, process and environment inspection, and memory when you can't trust the rest. None of it is exotic or groundbreaking. The checklist is on the slide and in the repo — take a photo, I'll be here for a minute after.</a:t>
            </a:r>
          </a:p>
        </p:txBody>
      </p:sp>
      <p:sp>
        <p:nvSpPr>
          <p:cNvPr id="4" name="Slide Number Placeholder 3"/>
          <p:cNvSpPr>
            <a:spLocks noGrp="1"/>
          </p:cNvSpPr>
          <p:nvPr>
            <p:ph type="sldNum" sz="quarter" idx="5"/>
          </p:nvPr>
        </p:nvSpPr>
        <p:spPr/>
        <p:txBody>
          <a:bodyPr/>
          <a:lstStyle/>
          <a:p>
            <a:fld id="{589CF4E9-076D-4D8F-AE6F-492E73080AA0}" type="slidenum">
              <a:rPr lang="en-US" smtClean="0"/>
              <a:t>27</a:t>
            </a:fld>
            <a:endParaRPr lang="en-US"/>
          </a:p>
        </p:txBody>
      </p:sp>
    </p:spTree>
    <p:extLst>
      <p:ext uri="{BB962C8B-B14F-4D97-AF65-F5344CB8AC3E}">
        <p14:creationId xmlns:p14="http://schemas.microsoft.com/office/powerpoint/2010/main" val="8838617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4D249-8DC4-7BC1-2336-306933E10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EFACC-F343-B15E-5E14-5AF719F4C0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BF4A0-036E-F666-7ABB-9DF772241E42}"/>
              </a:ext>
            </a:extLst>
          </p:cNvPr>
          <p:cNvSpPr>
            <a:spLocks noGrp="1"/>
          </p:cNvSpPr>
          <p:nvPr>
            <p:ph type="body" idx="1"/>
          </p:nvPr>
        </p:nvSpPr>
        <p:spPr/>
        <p:txBody>
          <a:bodyPr/>
          <a:lstStyle/>
          <a:p>
            <a:r>
              <a:rPr lang="en-US" dirty="0"/>
              <a:t>Everything today comes back to one thing: the OS gives you ground truth, if you know where to look. Across both vectors the same small toolkit wins — package verification, file integrity on a handful of config locations, process and environment inspection, and memory when you can't trust the rest. None of it is exotic or groundbreaking. That's exactly why it's missed. The checklist is on the slide and in the repo — take a photo, I'll be here for a minute after.</a:t>
            </a:r>
          </a:p>
        </p:txBody>
      </p:sp>
      <p:sp>
        <p:nvSpPr>
          <p:cNvPr id="4" name="Slide Number Placeholder 3">
            <a:extLst>
              <a:ext uri="{FF2B5EF4-FFF2-40B4-BE49-F238E27FC236}">
                <a16:creationId xmlns:a16="http://schemas.microsoft.com/office/drawing/2014/main" id="{8543DA5B-C6CC-BF57-CCFF-CCBEE9C74C01}"/>
              </a:ext>
            </a:extLst>
          </p:cNvPr>
          <p:cNvSpPr>
            <a:spLocks noGrp="1"/>
          </p:cNvSpPr>
          <p:nvPr>
            <p:ph type="sldNum" sz="quarter" idx="5"/>
          </p:nvPr>
        </p:nvSpPr>
        <p:spPr/>
        <p:txBody>
          <a:bodyPr/>
          <a:lstStyle/>
          <a:p>
            <a:fld id="{589CF4E9-076D-4D8F-AE6F-492E73080AA0}" type="slidenum">
              <a:rPr lang="en-US" smtClean="0"/>
              <a:t>28</a:t>
            </a:fld>
            <a:endParaRPr lang="en-US"/>
          </a:p>
        </p:txBody>
      </p:sp>
    </p:spTree>
    <p:extLst>
      <p:ext uri="{BB962C8B-B14F-4D97-AF65-F5344CB8AC3E}">
        <p14:creationId xmlns:p14="http://schemas.microsoft.com/office/powerpoint/2010/main" val="35847397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find the slides as well as </a:t>
            </a:r>
            <a:r>
              <a:rPr lang="en-US" dirty="0" err="1"/>
              <a:t>auditd</a:t>
            </a:r>
            <a:r>
              <a:rPr lang="en-US" dirty="0"/>
              <a:t> rules, demo scripts, and the triage one-liners are all in there. If you want to get in contact with me, connect with me on LinkedIn. Happy to take on any questions.</a:t>
            </a:r>
          </a:p>
        </p:txBody>
      </p:sp>
      <p:sp>
        <p:nvSpPr>
          <p:cNvPr id="4" name="Slide Number Placeholder 3"/>
          <p:cNvSpPr>
            <a:spLocks noGrp="1"/>
          </p:cNvSpPr>
          <p:nvPr>
            <p:ph type="sldNum" sz="quarter" idx="5"/>
          </p:nvPr>
        </p:nvSpPr>
        <p:spPr/>
        <p:txBody>
          <a:bodyPr/>
          <a:lstStyle/>
          <a:p>
            <a:fld id="{589CF4E9-076D-4D8F-AE6F-492E73080AA0}" type="slidenum">
              <a:rPr lang="en-US" smtClean="0"/>
              <a:t>29</a:t>
            </a:fld>
            <a:endParaRPr lang="en-US"/>
          </a:p>
        </p:txBody>
      </p:sp>
    </p:spTree>
    <p:extLst>
      <p:ext uri="{BB962C8B-B14F-4D97-AF65-F5344CB8AC3E}">
        <p14:creationId xmlns:p14="http://schemas.microsoft.com/office/powerpoint/2010/main" val="5213594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02443CB0-3BCE-49A5-90BE-2825BD0332C3}" type="datetimeFigureOut">
              <a:rPr lang="en-US" smtClean="0"/>
              <a:t>9/25/2026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66798991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443CB0-3BCE-49A5-90BE-2825BD0332C3}"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21501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443CB0-3BCE-49A5-90BE-2825BD0332C3}"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123091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443CB0-3BCE-49A5-90BE-2825BD0332C3}"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1270338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443CB0-3BCE-49A5-90BE-2825BD0332C3}"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2088694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443CB0-3BCE-49A5-90BE-2825BD0332C3}"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1848823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02443CB0-3BCE-49A5-90BE-2825BD0332C3}"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2568804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443CB0-3BCE-49A5-90BE-2825BD0332C3}"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793049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443CB0-3BCE-49A5-90BE-2825BD0332C3}"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113488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443CB0-3BCE-49A5-90BE-2825BD0332C3}"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2062503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443CB0-3BCE-49A5-90BE-2825BD0332C3}"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2883763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443CB0-3BCE-49A5-90BE-2825BD0332C3}"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6856192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443CB0-3BCE-49A5-90BE-2825BD0332C3}"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41500043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443CB0-3BCE-49A5-90BE-2825BD0332C3}"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17650836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443CB0-3BCE-49A5-90BE-2825BD0332C3}"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30694829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443CB0-3BCE-49A5-90BE-2825BD0332C3}"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D18D2E-A693-4ECD-973E-6DDD40AE4F22}"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5362928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443CB0-3BCE-49A5-90BE-2825BD0332C3}"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D18D2E-A693-4ECD-973E-6DDD40AE4F22}" type="slidenum">
              <a:rPr lang="en-US" smtClean="0"/>
              <a:t>‹#›</a:t>
            </a:fld>
            <a:endParaRPr lang="en-US"/>
          </a:p>
        </p:txBody>
      </p:sp>
    </p:spTree>
    <p:extLst>
      <p:ext uri="{BB962C8B-B14F-4D97-AF65-F5344CB8AC3E}">
        <p14:creationId xmlns:p14="http://schemas.microsoft.com/office/powerpoint/2010/main" val="1805476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2443CB0-3BCE-49A5-90BE-2825BD0332C3}" type="datetimeFigureOut">
              <a:rPr lang="en-US" smtClean="0"/>
              <a:t>9/25/2026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7D18D2E-A693-4ECD-973E-6DDD40AE4F22}" type="slidenum">
              <a:rPr lang="en-US" smtClean="0"/>
              <a:t>‹#›</a:t>
            </a:fld>
            <a:endParaRPr lang="en-US"/>
          </a:p>
        </p:txBody>
      </p:sp>
    </p:spTree>
    <p:extLst>
      <p:ext uri="{BB962C8B-B14F-4D97-AF65-F5344CB8AC3E}">
        <p14:creationId xmlns:p14="http://schemas.microsoft.com/office/powerpoint/2010/main" val="2338282681"/>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F7FC3-8C05-D2EF-12F9-616136F26441}"/>
              </a:ext>
            </a:extLst>
          </p:cNvPr>
          <p:cNvSpPr>
            <a:spLocks noGrp="1"/>
          </p:cNvSpPr>
          <p:nvPr>
            <p:ph type="ctrTitle"/>
          </p:nvPr>
        </p:nvSpPr>
        <p:spPr>
          <a:xfrm>
            <a:off x="3200400" y="1964267"/>
            <a:ext cx="7959725" cy="2421464"/>
          </a:xfrm>
        </p:spPr>
        <p:txBody>
          <a:bodyPr>
            <a:normAutofit fontScale="90000"/>
          </a:bodyPr>
          <a:lstStyle/>
          <a:p>
            <a:r>
              <a:rPr lang="en-US" b="1" dirty="0">
                <a:latin typeface="Georgia" panose="02040502050405020303" pitchFamily="18" charset="0"/>
              </a:rPr>
              <a:t>Hooked: Tracking Linker and PAM Persistence on Linux </a:t>
            </a:r>
            <a:endParaRPr lang="en-US" dirty="0">
              <a:latin typeface="Georgia" panose="02040502050405020303" pitchFamily="18" charset="0"/>
            </a:endParaRPr>
          </a:p>
        </p:txBody>
      </p:sp>
      <p:sp>
        <p:nvSpPr>
          <p:cNvPr id="3" name="Subtitle 2">
            <a:extLst>
              <a:ext uri="{FF2B5EF4-FFF2-40B4-BE49-F238E27FC236}">
                <a16:creationId xmlns:a16="http://schemas.microsoft.com/office/drawing/2014/main" id="{649CE868-BBD4-66FF-662E-264112C08DC8}"/>
              </a:ext>
            </a:extLst>
          </p:cNvPr>
          <p:cNvSpPr>
            <a:spLocks noGrp="1"/>
          </p:cNvSpPr>
          <p:nvPr>
            <p:ph type="subTitle" idx="1"/>
          </p:nvPr>
        </p:nvSpPr>
        <p:spPr/>
        <p:txBody>
          <a:bodyPr/>
          <a:lstStyle/>
          <a:p>
            <a:r>
              <a:rPr lang="en-US" dirty="0">
                <a:latin typeface="Helvetica Light"/>
              </a:rPr>
              <a:t>Jason Trapp</a:t>
            </a:r>
          </a:p>
          <a:p>
            <a:r>
              <a:rPr lang="en-US" dirty="0" err="1">
                <a:latin typeface="Helvetica Light"/>
              </a:rPr>
              <a:t>Bsides</a:t>
            </a:r>
            <a:r>
              <a:rPr lang="en-US" dirty="0">
                <a:latin typeface="Helvetica Light"/>
              </a:rPr>
              <a:t> Canberra 2026</a:t>
            </a:r>
          </a:p>
        </p:txBody>
      </p:sp>
    </p:spTree>
    <p:extLst>
      <p:ext uri="{BB962C8B-B14F-4D97-AF65-F5344CB8AC3E}">
        <p14:creationId xmlns:p14="http://schemas.microsoft.com/office/powerpoint/2010/main" val="980520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DFD6-4BA4-C229-B385-9D5AEE48E702}"/>
              </a:ext>
            </a:extLst>
          </p:cNvPr>
          <p:cNvSpPr>
            <a:spLocks noGrp="1"/>
          </p:cNvSpPr>
          <p:nvPr>
            <p:ph type="title"/>
          </p:nvPr>
        </p:nvSpPr>
        <p:spPr/>
        <p:txBody>
          <a:bodyPr>
            <a:normAutofit/>
          </a:bodyPr>
          <a:lstStyle/>
          <a:p>
            <a:r>
              <a:rPr lang="en-US" sz="4400" dirty="0">
                <a:latin typeface="Georgia" panose="02040502050405020303" pitchFamily="18" charset="0"/>
              </a:rPr>
              <a:t>About me</a:t>
            </a:r>
          </a:p>
        </p:txBody>
      </p:sp>
      <p:sp>
        <p:nvSpPr>
          <p:cNvPr id="3" name="Content Placeholder 2">
            <a:extLst>
              <a:ext uri="{FF2B5EF4-FFF2-40B4-BE49-F238E27FC236}">
                <a16:creationId xmlns:a16="http://schemas.microsoft.com/office/drawing/2014/main" id="{3DE42453-0CF9-DC4E-D47F-946E6B839DD2}"/>
              </a:ext>
            </a:extLst>
          </p:cNvPr>
          <p:cNvSpPr>
            <a:spLocks noGrp="1"/>
          </p:cNvSpPr>
          <p:nvPr>
            <p:ph idx="1"/>
          </p:nvPr>
        </p:nvSpPr>
        <p:spPr/>
        <p:txBody>
          <a:bodyPr anchor="t" anchorCtr="0">
            <a:normAutofit/>
          </a:bodyPr>
          <a:lstStyle/>
          <a:p>
            <a:r>
              <a:rPr lang="en-US" sz="2000" dirty="0">
                <a:latin typeface="Helvetica Light"/>
              </a:rPr>
              <a:t>I’m Jason Trapp</a:t>
            </a:r>
          </a:p>
          <a:p>
            <a:r>
              <a:rPr lang="en-US" sz="2000" dirty="0">
                <a:latin typeface="Helvetica Light"/>
              </a:rPr>
              <a:t>Assistant Manager at </a:t>
            </a:r>
            <a:r>
              <a:rPr lang="en-US" sz="2000" dirty="0" err="1">
                <a:latin typeface="Helvetica Light"/>
              </a:rPr>
              <a:t>McGrathNicol</a:t>
            </a:r>
            <a:endParaRPr lang="en-US" sz="2000" dirty="0">
              <a:latin typeface="Helvetica Light"/>
            </a:endParaRPr>
          </a:p>
          <a:p>
            <a:r>
              <a:rPr lang="en-US" sz="2000" dirty="0">
                <a:latin typeface="Helvetica Light"/>
              </a:rPr>
              <a:t>Worked in Digital Forensics and Incident Response for the last 6 years</a:t>
            </a:r>
          </a:p>
          <a:p>
            <a:endParaRPr lang="en-US" sz="2000" dirty="0">
              <a:latin typeface="Helvetica Light"/>
            </a:endParaRPr>
          </a:p>
        </p:txBody>
      </p:sp>
    </p:spTree>
    <p:extLst>
      <p:ext uri="{BB962C8B-B14F-4D97-AF65-F5344CB8AC3E}">
        <p14:creationId xmlns:p14="http://schemas.microsoft.com/office/powerpoint/2010/main" val="829992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374FB-5974-6893-FB07-7B177CF50B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03991-4752-7775-91D2-E168F1A60013}"/>
              </a:ext>
            </a:extLst>
          </p:cNvPr>
          <p:cNvSpPr>
            <a:spLocks noGrp="1"/>
          </p:cNvSpPr>
          <p:nvPr>
            <p:ph type="title"/>
          </p:nvPr>
        </p:nvSpPr>
        <p:spPr/>
        <p:txBody>
          <a:bodyPr>
            <a:normAutofit/>
          </a:bodyPr>
          <a:lstStyle/>
          <a:p>
            <a:r>
              <a:rPr lang="en-US" sz="4400" dirty="0">
                <a:latin typeface="Georgia" panose="02040502050405020303" pitchFamily="18" charset="0"/>
              </a:rPr>
              <a:t>What we typically hunt</a:t>
            </a:r>
          </a:p>
        </p:txBody>
      </p:sp>
      <p:sp>
        <p:nvSpPr>
          <p:cNvPr id="3" name="Content Placeholder 2">
            <a:extLst>
              <a:ext uri="{FF2B5EF4-FFF2-40B4-BE49-F238E27FC236}">
                <a16:creationId xmlns:a16="http://schemas.microsoft.com/office/drawing/2014/main" id="{987DF0B5-1A46-330A-1AF0-62525A3ADBEE}"/>
              </a:ext>
            </a:extLst>
          </p:cNvPr>
          <p:cNvSpPr>
            <a:spLocks noGrp="1"/>
          </p:cNvSpPr>
          <p:nvPr>
            <p:ph idx="1"/>
          </p:nvPr>
        </p:nvSpPr>
        <p:spPr/>
        <p:txBody>
          <a:bodyPr anchor="t" anchorCtr="0">
            <a:normAutofit/>
          </a:bodyPr>
          <a:lstStyle/>
          <a:p>
            <a:r>
              <a:rPr lang="en-US" sz="2000" dirty="0">
                <a:latin typeface="Helvetica Light"/>
              </a:rPr>
              <a:t>Cron modifications</a:t>
            </a:r>
          </a:p>
          <a:p>
            <a:r>
              <a:rPr lang="en-US" sz="2000" dirty="0" err="1">
                <a:latin typeface="Helvetica Light"/>
              </a:rPr>
              <a:t>rc.local</a:t>
            </a:r>
            <a:r>
              <a:rPr lang="en-US" sz="2000" dirty="0">
                <a:latin typeface="Helvetica Light"/>
              </a:rPr>
              <a:t> / </a:t>
            </a:r>
            <a:r>
              <a:rPr lang="en-US" sz="2000" dirty="0" err="1">
                <a:latin typeface="Helvetica Light"/>
              </a:rPr>
              <a:t>init.d</a:t>
            </a:r>
            <a:r>
              <a:rPr lang="en-US" sz="2000" dirty="0">
                <a:latin typeface="Helvetica Light"/>
              </a:rPr>
              <a:t> scripts</a:t>
            </a:r>
          </a:p>
          <a:p>
            <a:r>
              <a:rPr lang="en-US" sz="2000" dirty="0" err="1">
                <a:latin typeface="Helvetica Light"/>
              </a:rPr>
              <a:t>Systemd</a:t>
            </a:r>
            <a:r>
              <a:rPr lang="en-US" sz="2000" dirty="0">
                <a:latin typeface="Helvetica Light"/>
              </a:rPr>
              <a:t> unit additions</a:t>
            </a:r>
          </a:p>
          <a:p>
            <a:r>
              <a:rPr lang="en-US" sz="2000" dirty="0">
                <a:latin typeface="Helvetica Light"/>
              </a:rPr>
              <a:t>SSH </a:t>
            </a:r>
            <a:r>
              <a:rPr lang="en-US" sz="2000" dirty="0" err="1">
                <a:latin typeface="Helvetica Light"/>
              </a:rPr>
              <a:t>authorized_keys</a:t>
            </a:r>
            <a:r>
              <a:rPr lang="en-US" sz="2000" dirty="0">
                <a:latin typeface="Helvetica Light"/>
              </a:rPr>
              <a:t> changes</a:t>
            </a:r>
          </a:p>
          <a:p>
            <a:endParaRPr lang="en-US" sz="2000" dirty="0">
              <a:latin typeface="Helvetica Light"/>
            </a:endParaRPr>
          </a:p>
        </p:txBody>
      </p:sp>
    </p:spTree>
    <p:extLst>
      <p:ext uri="{BB962C8B-B14F-4D97-AF65-F5344CB8AC3E}">
        <p14:creationId xmlns:p14="http://schemas.microsoft.com/office/powerpoint/2010/main" val="1304897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B1D64-D89C-551E-E78E-5F3180ABD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C51455-975C-4BFA-A475-CAD63DC37882}"/>
              </a:ext>
            </a:extLst>
          </p:cNvPr>
          <p:cNvSpPr>
            <a:spLocks noGrp="1"/>
          </p:cNvSpPr>
          <p:nvPr>
            <p:ph type="title"/>
          </p:nvPr>
        </p:nvSpPr>
        <p:spPr/>
        <p:txBody>
          <a:bodyPr>
            <a:normAutofit/>
          </a:bodyPr>
          <a:lstStyle/>
          <a:p>
            <a:r>
              <a:rPr lang="en-US" sz="4400" dirty="0">
                <a:latin typeface="Georgia" panose="02040502050405020303" pitchFamily="18" charset="0"/>
              </a:rPr>
              <a:t>What we </a:t>
            </a:r>
            <a:r>
              <a:rPr lang="en-US" sz="4400" dirty="0" err="1">
                <a:latin typeface="Georgia" panose="02040502050405020303" pitchFamily="18" charset="0"/>
              </a:rPr>
              <a:t>MIss</a:t>
            </a:r>
            <a:endParaRPr lang="en-US" sz="4400" dirty="0">
              <a:latin typeface="Georgia" panose="02040502050405020303" pitchFamily="18" charset="0"/>
            </a:endParaRPr>
          </a:p>
        </p:txBody>
      </p:sp>
      <p:sp>
        <p:nvSpPr>
          <p:cNvPr id="3" name="Content Placeholder 2">
            <a:extLst>
              <a:ext uri="{FF2B5EF4-FFF2-40B4-BE49-F238E27FC236}">
                <a16:creationId xmlns:a16="http://schemas.microsoft.com/office/drawing/2014/main" id="{25CA3064-29A3-5FDA-8A06-337F6CA9D8D8}"/>
              </a:ext>
            </a:extLst>
          </p:cNvPr>
          <p:cNvSpPr>
            <a:spLocks noGrp="1"/>
          </p:cNvSpPr>
          <p:nvPr>
            <p:ph idx="1"/>
          </p:nvPr>
        </p:nvSpPr>
        <p:spPr>
          <a:xfrm>
            <a:off x="685801" y="2142067"/>
            <a:ext cx="10131425" cy="4037753"/>
          </a:xfrm>
        </p:spPr>
        <p:txBody>
          <a:bodyPr anchor="t" anchorCtr="0">
            <a:noAutofit/>
          </a:bodyPr>
          <a:lstStyle/>
          <a:p>
            <a:r>
              <a:rPr lang="en-US" sz="2000" dirty="0">
                <a:latin typeface="Helvetica Light"/>
              </a:rPr>
              <a:t>The problem isn’t attacker sophistication. It’s a telemetry gap.</a:t>
            </a:r>
          </a:p>
          <a:p>
            <a:endParaRPr lang="en-US" sz="2000" dirty="0">
              <a:latin typeface="Helvetica Light"/>
            </a:endParaRPr>
          </a:p>
          <a:p>
            <a:r>
              <a:rPr lang="en-US" sz="2000" dirty="0">
                <a:latin typeface="Helvetica Light"/>
              </a:rPr>
              <a:t>Commonly missed items include:</a:t>
            </a:r>
          </a:p>
          <a:p>
            <a:pPr lvl="1"/>
            <a:r>
              <a:rPr lang="en-US" sz="2000" b="1" dirty="0">
                <a:latin typeface="Helvetica Light"/>
              </a:rPr>
              <a:t>PAM configuration</a:t>
            </a:r>
          </a:p>
          <a:p>
            <a:pPr lvl="1"/>
            <a:r>
              <a:rPr lang="en-US" sz="2000" b="1" dirty="0">
                <a:latin typeface="Helvetica Light"/>
              </a:rPr>
              <a:t>Dynamic linker (LD_PRELOAD)</a:t>
            </a:r>
          </a:p>
          <a:p>
            <a:pPr lvl="1"/>
            <a:r>
              <a:rPr lang="en-US" sz="2000" dirty="0" err="1">
                <a:latin typeface="Helvetica Light"/>
              </a:rPr>
              <a:t>Systemd</a:t>
            </a:r>
            <a:r>
              <a:rPr lang="en-US" sz="2000" dirty="0">
                <a:latin typeface="Helvetica Light"/>
              </a:rPr>
              <a:t> generators</a:t>
            </a:r>
          </a:p>
          <a:p>
            <a:pPr lvl="1"/>
            <a:r>
              <a:rPr lang="en-US" sz="2000" dirty="0">
                <a:latin typeface="Helvetica Light"/>
              </a:rPr>
              <a:t>Container runtime hooks</a:t>
            </a:r>
          </a:p>
          <a:p>
            <a:r>
              <a:rPr lang="en-US" sz="2000" dirty="0">
                <a:latin typeface="Helvetica Light"/>
              </a:rPr>
              <a:t>APT41 and Aquatic Panda have both exploited LD_PRELOAD for persistence</a:t>
            </a:r>
          </a:p>
          <a:p>
            <a:r>
              <a:rPr lang="en-US" sz="2000" dirty="0">
                <a:latin typeface="Helvetica Light"/>
              </a:rPr>
              <a:t>The tool Ebury can be used to deactivate PAM modules to tamper </a:t>
            </a:r>
            <a:r>
              <a:rPr lang="en-US" sz="2000">
                <a:latin typeface="Helvetica Light"/>
              </a:rPr>
              <a:t>with the SSHD configuration.</a:t>
            </a:r>
            <a:endParaRPr lang="en-US" sz="2000" dirty="0">
              <a:latin typeface="Helvetica Light"/>
            </a:endParaRPr>
          </a:p>
          <a:p>
            <a:endParaRPr lang="en-US" sz="2000" dirty="0">
              <a:latin typeface="Helvetica Light"/>
            </a:endParaRPr>
          </a:p>
          <a:p>
            <a:endParaRPr lang="en-US" sz="2000" dirty="0">
              <a:latin typeface="Helvetica Light"/>
            </a:endParaRPr>
          </a:p>
        </p:txBody>
      </p:sp>
    </p:spTree>
    <p:extLst>
      <p:ext uri="{BB962C8B-B14F-4D97-AF65-F5344CB8AC3E}">
        <p14:creationId xmlns:p14="http://schemas.microsoft.com/office/powerpoint/2010/main" val="1621927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71E41-A3FA-F06B-0409-EA8B42B87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9CB1D1-8814-195F-91FD-154114B12E7A}"/>
              </a:ext>
            </a:extLst>
          </p:cNvPr>
          <p:cNvSpPr>
            <a:spLocks noGrp="1"/>
          </p:cNvSpPr>
          <p:nvPr>
            <p:ph type="title"/>
          </p:nvPr>
        </p:nvSpPr>
        <p:spPr/>
        <p:txBody>
          <a:bodyPr>
            <a:normAutofit/>
          </a:bodyPr>
          <a:lstStyle/>
          <a:p>
            <a:r>
              <a:rPr lang="en-US" sz="4400" dirty="0">
                <a:latin typeface="Georgia" panose="02040502050405020303" pitchFamily="18" charset="0"/>
              </a:rPr>
              <a:t>LAB Setup</a:t>
            </a:r>
          </a:p>
        </p:txBody>
      </p:sp>
      <p:sp>
        <p:nvSpPr>
          <p:cNvPr id="3" name="Content Placeholder 2">
            <a:extLst>
              <a:ext uri="{FF2B5EF4-FFF2-40B4-BE49-F238E27FC236}">
                <a16:creationId xmlns:a16="http://schemas.microsoft.com/office/drawing/2014/main" id="{5A1D3665-8E96-112A-0A02-ED6C7454F5A0}"/>
              </a:ext>
            </a:extLst>
          </p:cNvPr>
          <p:cNvSpPr>
            <a:spLocks noGrp="1"/>
          </p:cNvSpPr>
          <p:nvPr>
            <p:ph idx="1"/>
          </p:nvPr>
        </p:nvSpPr>
        <p:spPr/>
        <p:txBody>
          <a:bodyPr anchor="t" anchorCtr="0">
            <a:normAutofit/>
          </a:bodyPr>
          <a:lstStyle/>
          <a:p>
            <a:r>
              <a:rPr lang="en-US" sz="2000" dirty="0">
                <a:latin typeface="Helvetica Light"/>
              </a:rPr>
              <a:t>OS: Ubuntu 26.04 LTS</a:t>
            </a:r>
          </a:p>
          <a:p>
            <a:r>
              <a:rPr lang="en-US" sz="2000" dirty="0">
                <a:latin typeface="Helvetica Light"/>
              </a:rPr>
              <a:t>Two VMs – one for initiating SSH and the other is the target</a:t>
            </a:r>
          </a:p>
          <a:p>
            <a:r>
              <a:rPr lang="en-US" sz="2000" dirty="0" err="1">
                <a:latin typeface="Helvetica Light"/>
              </a:rPr>
              <a:t>Busybox</a:t>
            </a:r>
            <a:endParaRPr lang="en-US" sz="2000" dirty="0">
              <a:latin typeface="Helvetica Light"/>
            </a:endParaRPr>
          </a:p>
          <a:p>
            <a:endParaRPr lang="en-US" sz="2000" dirty="0">
              <a:latin typeface="Helvetica Light"/>
            </a:endParaRPr>
          </a:p>
        </p:txBody>
      </p:sp>
    </p:spTree>
    <p:extLst>
      <p:ext uri="{BB962C8B-B14F-4D97-AF65-F5344CB8AC3E}">
        <p14:creationId xmlns:p14="http://schemas.microsoft.com/office/powerpoint/2010/main" val="1229012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951B1-2E16-3C2C-8B08-BDE59FF65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8FBFC-B125-871D-5B87-2D324F17A66A}"/>
              </a:ext>
            </a:extLst>
          </p:cNvPr>
          <p:cNvSpPr>
            <a:spLocks noGrp="1"/>
          </p:cNvSpPr>
          <p:nvPr>
            <p:ph type="title"/>
          </p:nvPr>
        </p:nvSpPr>
        <p:spPr/>
        <p:txBody>
          <a:bodyPr>
            <a:normAutofit/>
          </a:bodyPr>
          <a:lstStyle/>
          <a:p>
            <a:r>
              <a:rPr lang="en-US" sz="4400" dirty="0">
                <a:latin typeface="Georgia" panose="02040502050405020303" pitchFamily="18" charset="0"/>
              </a:rPr>
              <a:t>PAM </a:t>
            </a:r>
            <a:r>
              <a:rPr lang="en-US" sz="4400" dirty="0" err="1">
                <a:latin typeface="Georgia" panose="02040502050405020303" pitchFamily="18" charset="0"/>
              </a:rPr>
              <a:t>mECHANICS</a:t>
            </a:r>
            <a:endParaRPr lang="en-US" sz="4400" dirty="0">
              <a:latin typeface="Georgia" panose="02040502050405020303" pitchFamily="18" charset="0"/>
            </a:endParaRPr>
          </a:p>
        </p:txBody>
      </p:sp>
      <p:sp>
        <p:nvSpPr>
          <p:cNvPr id="3" name="Content Placeholder 2">
            <a:extLst>
              <a:ext uri="{FF2B5EF4-FFF2-40B4-BE49-F238E27FC236}">
                <a16:creationId xmlns:a16="http://schemas.microsoft.com/office/drawing/2014/main" id="{F6CC8972-109B-1BD9-B0DF-F96C093B51A2}"/>
              </a:ext>
            </a:extLst>
          </p:cNvPr>
          <p:cNvSpPr>
            <a:spLocks noGrp="1"/>
          </p:cNvSpPr>
          <p:nvPr>
            <p:ph idx="1"/>
          </p:nvPr>
        </p:nvSpPr>
        <p:spPr>
          <a:xfrm>
            <a:off x="685801" y="2142067"/>
            <a:ext cx="5410199" cy="3649133"/>
          </a:xfrm>
        </p:spPr>
        <p:txBody>
          <a:bodyPr anchor="t" anchorCtr="0">
            <a:normAutofit/>
          </a:bodyPr>
          <a:lstStyle/>
          <a:p>
            <a:r>
              <a:rPr lang="en-US" sz="2000" dirty="0">
                <a:latin typeface="Helvetica Light"/>
              </a:rPr>
              <a:t>What calls PAM?</a:t>
            </a:r>
          </a:p>
          <a:p>
            <a:pPr lvl="1"/>
            <a:r>
              <a:rPr lang="en-US" sz="2000" dirty="0" err="1">
                <a:latin typeface="Helvetica Light"/>
              </a:rPr>
              <a:t>sshd</a:t>
            </a:r>
            <a:endParaRPr lang="en-US" sz="2000" dirty="0">
              <a:latin typeface="Helvetica Light"/>
            </a:endParaRPr>
          </a:p>
          <a:p>
            <a:pPr lvl="1"/>
            <a:r>
              <a:rPr lang="en-US" sz="2000" dirty="0" err="1">
                <a:latin typeface="Helvetica Light"/>
              </a:rPr>
              <a:t>sudo</a:t>
            </a:r>
            <a:endParaRPr lang="en-US" sz="2000" dirty="0">
              <a:latin typeface="Helvetica Light"/>
            </a:endParaRPr>
          </a:p>
          <a:p>
            <a:pPr lvl="1"/>
            <a:r>
              <a:rPr lang="en-US" sz="2000" dirty="0">
                <a:latin typeface="Helvetica Light"/>
              </a:rPr>
              <a:t>login</a:t>
            </a:r>
          </a:p>
          <a:p>
            <a:pPr lvl="1"/>
            <a:r>
              <a:rPr lang="en-US" sz="2000" dirty="0" err="1">
                <a:latin typeface="Helvetica Light"/>
              </a:rPr>
              <a:t>su</a:t>
            </a:r>
            <a:endParaRPr lang="en-US" sz="2000" dirty="0">
              <a:latin typeface="Helvetica Light"/>
            </a:endParaRPr>
          </a:p>
          <a:p>
            <a:pPr lvl="1"/>
            <a:r>
              <a:rPr lang="en-US" sz="2000" dirty="0" err="1">
                <a:latin typeface="Helvetica Light"/>
              </a:rPr>
              <a:t>cron</a:t>
            </a:r>
            <a:endParaRPr lang="en-US" sz="2000" dirty="0">
              <a:latin typeface="Helvetica Light"/>
            </a:endParaRPr>
          </a:p>
          <a:p>
            <a:pPr lvl="1"/>
            <a:r>
              <a:rPr lang="en-US" sz="2000" dirty="0">
                <a:latin typeface="Helvetica Light"/>
              </a:rPr>
              <a:t>cups</a:t>
            </a:r>
          </a:p>
        </p:txBody>
      </p:sp>
      <p:sp>
        <p:nvSpPr>
          <p:cNvPr id="4" name="Content Placeholder 2">
            <a:extLst>
              <a:ext uri="{FF2B5EF4-FFF2-40B4-BE49-F238E27FC236}">
                <a16:creationId xmlns:a16="http://schemas.microsoft.com/office/drawing/2014/main" id="{6B4BDA0C-B0CC-9EF3-5652-6E5925527A3D}"/>
              </a:ext>
            </a:extLst>
          </p:cNvPr>
          <p:cNvSpPr txBox="1">
            <a:spLocks/>
          </p:cNvSpPr>
          <p:nvPr/>
        </p:nvSpPr>
        <p:spPr>
          <a:xfrm>
            <a:off x="5486400" y="2065867"/>
            <a:ext cx="6564923" cy="3649133"/>
          </a:xfrm>
          <a:prstGeom prst="rect">
            <a:avLst/>
          </a:prstGeom>
        </p:spPr>
        <p:txBody>
          <a:bodyPr vert="horz" lIns="91440" tIns="45720" rIns="91440" bIns="45720" rtlCol="0" anchor="t" anchorCtr="0">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2000" dirty="0">
                <a:latin typeface="Helvetica Light"/>
              </a:rPr>
              <a:t>How PAM resolves it?</a:t>
            </a:r>
          </a:p>
          <a:p>
            <a:pPr lvl="1"/>
            <a:r>
              <a:rPr lang="en-US" sz="2000" dirty="0">
                <a:latin typeface="Helvetica Light"/>
              </a:rPr>
              <a:t>Configuration: /</a:t>
            </a:r>
            <a:r>
              <a:rPr lang="en-US" sz="2000" dirty="0" err="1">
                <a:latin typeface="Helvetica Light"/>
              </a:rPr>
              <a:t>etc</a:t>
            </a:r>
            <a:r>
              <a:rPr lang="en-US" sz="2000" dirty="0">
                <a:latin typeface="Helvetica Light"/>
              </a:rPr>
              <a:t>/</a:t>
            </a:r>
            <a:r>
              <a:rPr lang="en-US" sz="2000" dirty="0" err="1">
                <a:latin typeface="Helvetica Light"/>
              </a:rPr>
              <a:t>pam.d</a:t>
            </a:r>
            <a:r>
              <a:rPr lang="en-US" sz="2000" dirty="0">
                <a:latin typeface="Helvetica Light"/>
              </a:rPr>
              <a:t>/&lt;service&gt;</a:t>
            </a:r>
          </a:p>
          <a:p>
            <a:pPr lvl="1"/>
            <a:r>
              <a:rPr lang="en-US" sz="2000" dirty="0">
                <a:latin typeface="Helvetica Light"/>
              </a:rPr>
              <a:t>Modules: /lib/x86_64-linux-gnu/security/*so</a:t>
            </a:r>
          </a:p>
          <a:p>
            <a:pPr lvl="1"/>
            <a:r>
              <a:rPr lang="en-US" sz="2000" dirty="0">
                <a:latin typeface="Helvetica Light"/>
              </a:rPr>
              <a:t>Stack: auth/account/password/session</a:t>
            </a:r>
          </a:p>
          <a:p>
            <a:pPr lvl="1"/>
            <a:r>
              <a:rPr lang="en-US" sz="2000" dirty="0">
                <a:latin typeface="Helvetica Light"/>
              </a:rPr>
              <a:t>Control flags: required/requisite/optional/sufficient</a:t>
            </a:r>
          </a:p>
        </p:txBody>
      </p:sp>
    </p:spTree>
    <p:extLst>
      <p:ext uri="{BB962C8B-B14F-4D97-AF65-F5344CB8AC3E}">
        <p14:creationId xmlns:p14="http://schemas.microsoft.com/office/powerpoint/2010/main" val="1974574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5DB37-3D41-7901-44A9-93D4738C0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F763F-99CC-8340-5B17-5A4ABC7AC89B}"/>
              </a:ext>
            </a:extLst>
          </p:cNvPr>
          <p:cNvSpPr>
            <a:spLocks noGrp="1"/>
          </p:cNvSpPr>
          <p:nvPr>
            <p:ph type="title"/>
          </p:nvPr>
        </p:nvSpPr>
        <p:spPr/>
        <p:txBody>
          <a:bodyPr>
            <a:normAutofit/>
          </a:bodyPr>
          <a:lstStyle/>
          <a:p>
            <a:r>
              <a:rPr lang="en-US" sz="4400" dirty="0">
                <a:latin typeface="Georgia" panose="02040502050405020303" pitchFamily="18" charset="0"/>
              </a:rPr>
              <a:t>How pam is exploited</a:t>
            </a:r>
          </a:p>
        </p:txBody>
      </p:sp>
      <p:sp>
        <p:nvSpPr>
          <p:cNvPr id="3" name="Content Placeholder 2">
            <a:extLst>
              <a:ext uri="{FF2B5EF4-FFF2-40B4-BE49-F238E27FC236}">
                <a16:creationId xmlns:a16="http://schemas.microsoft.com/office/drawing/2014/main" id="{C565972B-05BB-F0E2-A011-868E52141EDB}"/>
              </a:ext>
            </a:extLst>
          </p:cNvPr>
          <p:cNvSpPr>
            <a:spLocks noGrp="1"/>
          </p:cNvSpPr>
          <p:nvPr>
            <p:ph idx="1"/>
          </p:nvPr>
        </p:nvSpPr>
        <p:spPr/>
        <p:txBody>
          <a:bodyPr anchor="t" anchorCtr="0">
            <a:noAutofit/>
          </a:bodyPr>
          <a:lstStyle/>
          <a:p>
            <a:r>
              <a:rPr lang="en-US" sz="2000" dirty="0">
                <a:latin typeface="Helvetica Light"/>
              </a:rPr>
              <a:t>Path 1 – Config manipulation</a:t>
            </a:r>
          </a:p>
          <a:p>
            <a:pPr lvl="1"/>
            <a:r>
              <a:rPr lang="en-US" sz="1800" dirty="0">
                <a:latin typeface="Helvetica Light"/>
              </a:rPr>
              <a:t>Add the command to /</a:t>
            </a:r>
            <a:r>
              <a:rPr lang="en-US" sz="1800" dirty="0" err="1">
                <a:latin typeface="Helvetica Light"/>
              </a:rPr>
              <a:t>etc</a:t>
            </a:r>
            <a:r>
              <a:rPr lang="en-US" sz="1800" dirty="0">
                <a:latin typeface="Helvetica Light"/>
              </a:rPr>
              <a:t>/</a:t>
            </a:r>
            <a:r>
              <a:rPr lang="en-US" sz="1800" dirty="0" err="1">
                <a:latin typeface="Helvetica Light"/>
              </a:rPr>
              <a:t>pam.d</a:t>
            </a:r>
            <a:r>
              <a:rPr lang="en-US" sz="1800" dirty="0">
                <a:latin typeface="Helvetica Light"/>
              </a:rPr>
              <a:t>:</a:t>
            </a:r>
          </a:p>
          <a:p>
            <a:pPr lvl="2"/>
            <a:r>
              <a:rPr lang="en-US" sz="1800" dirty="0">
                <a:latin typeface="Helvetica Light"/>
              </a:rPr>
              <a:t>session optional pam_exec.so /usr/local/bin/.pam_marker.sh</a:t>
            </a:r>
          </a:p>
          <a:p>
            <a:endParaRPr lang="en-US" sz="2000" dirty="0">
              <a:latin typeface="Helvetica Light"/>
            </a:endParaRPr>
          </a:p>
          <a:p>
            <a:r>
              <a:rPr lang="en-US" sz="2000" dirty="0">
                <a:latin typeface="Helvetica Light"/>
              </a:rPr>
              <a:t>Path 2 – Module tampering (not demoed)</a:t>
            </a:r>
          </a:p>
          <a:p>
            <a:pPr lvl="1"/>
            <a:r>
              <a:rPr lang="en-US" sz="1800" dirty="0">
                <a:latin typeface="Helvetica Light"/>
              </a:rPr>
              <a:t>Much noisier than config manipulation</a:t>
            </a:r>
          </a:p>
          <a:p>
            <a:pPr lvl="1"/>
            <a:r>
              <a:rPr lang="en-US" sz="1800" dirty="0">
                <a:latin typeface="Helvetica Light"/>
              </a:rPr>
              <a:t>Replace or modify a package-owned .so in the security </a:t>
            </a:r>
            <a:r>
              <a:rPr lang="en-US" sz="1800" dirty="0" err="1">
                <a:latin typeface="Helvetica Light"/>
              </a:rPr>
              <a:t>dir</a:t>
            </a:r>
            <a:endParaRPr lang="en-US" sz="1800" dirty="0">
              <a:latin typeface="Helvetica Light"/>
            </a:endParaRPr>
          </a:p>
          <a:p>
            <a:pPr lvl="1"/>
            <a:r>
              <a:rPr lang="en-US" sz="1800" dirty="0">
                <a:latin typeface="Helvetica Light"/>
              </a:rPr>
              <a:t>Accepts a magic backdoor password, or silently captures credentials</a:t>
            </a:r>
          </a:p>
          <a:p>
            <a:pPr lvl="1"/>
            <a:r>
              <a:rPr lang="en-US" sz="1800" dirty="0" err="1">
                <a:latin typeface="Helvetica Light"/>
              </a:rPr>
              <a:t>dpkg</a:t>
            </a:r>
            <a:r>
              <a:rPr lang="en-US" sz="1800" dirty="0">
                <a:latin typeface="Helvetica Light"/>
              </a:rPr>
              <a:t> –V catches this immediately as the hash changes</a:t>
            </a:r>
          </a:p>
        </p:txBody>
      </p:sp>
    </p:spTree>
    <p:extLst>
      <p:ext uri="{BB962C8B-B14F-4D97-AF65-F5344CB8AC3E}">
        <p14:creationId xmlns:p14="http://schemas.microsoft.com/office/powerpoint/2010/main" val="31751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1B4E8-0E9E-17CA-9E2F-19CB37EFD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D1000-C531-C883-C435-53AEB7B68D6D}"/>
              </a:ext>
            </a:extLst>
          </p:cNvPr>
          <p:cNvSpPr>
            <a:spLocks noGrp="1"/>
          </p:cNvSpPr>
          <p:nvPr>
            <p:ph type="title"/>
          </p:nvPr>
        </p:nvSpPr>
        <p:spPr/>
        <p:txBody>
          <a:bodyPr>
            <a:normAutofit/>
          </a:bodyPr>
          <a:lstStyle/>
          <a:p>
            <a:r>
              <a:rPr lang="en-US" sz="4400" dirty="0">
                <a:latin typeface="Georgia" panose="02040502050405020303" pitchFamily="18" charset="0"/>
              </a:rPr>
              <a:t>Pam DEMO (1)</a:t>
            </a:r>
          </a:p>
        </p:txBody>
      </p:sp>
      <p:sp>
        <p:nvSpPr>
          <p:cNvPr id="3" name="Content Placeholder 2">
            <a:extLst>
              <a:ext uri="{FF2B5EF4-FFF2-40B4-BE49-F238E27FC236}">
                <a16:creationId xmlns:a16="http://schemas.microsoft.com/office/drawing/2014/main" id="{6B3C9660-835E-F16C-DFD4-ED4B32CF82A0}"/>
              </a:ext>
            </a:extLst>
          </p:cNvPr>
          <p:cNvSpPr>
            <a:spLocks noGrp="1"/>
          </p:cNvSpPr>
          <p:nvPr>
            <p:ph idx="1"/>
          </p:nvPr>
        </p:nvSpPr>
        <p:spPr>
          <a:xfrm>
            <a:off x="685802" y="2142067"/>
            <a:ext cx="4278294" cy="3649133"/>
          </a:xfrm>
        </p:spPr>
        <p:txBody>
          <a:bodyPr anchor="t"/>
          <a:lstStyle/>
          <a:p>
            <a:r>
              <a:rPr lang="en-US" dirty="0"/>
              <a:t>Run stat initially to show that nothing has changed</a:t>
            </a:r>
          </a:p>
          <a:p>
            <a:endParaRPr lang="en-US" dirty="0"/>
          </a:p>
        </p:txBody>
      </p:sp>
      <p:pic>
        <p:nvPicPr>
          <p:cNvPr id="7" name="Picture 6">
            <a:extLst>
              <a:ext uri="{FF2B5EF4-FFF2-40B4-BE49-F238E27FC236}">
                <a16:creationId xmlns:a16="http://schemas.microsoft.com/office/drawing/2014/main" id="{BABDD591-6642-5A16-DAC3-CAF32084D084}"/>
              </a:ext>
            </a:extLst>
          </p:cNvPr>
          <p:cNvPicPr>
            <a:picLocks noChangeAspect="1"/>
          </p:cNvPicPr>
          <p:nvPr/>
        </p:nvPicPr>
        <p:blipFill>
          <a:blip r:embed="rId3"/>
          <a:stretch>
            <a:fillRect/>
          </a:stretch>
        </p:blipFill>
        <p:spPr>
          <a:xfrm>
            <a:off x="4964095" y="2065867"/>
            <a:ext cx="6824929" cy="1862395"/>
          </a:xfrm>
          <a:prstGeom prst="rect">
            <a:avLst/>
          </a:prstGeom>
        </p:spPr>
      </p:pic>
    </p:spTree>
    <p:extLst>
      <p:ext uri="{BB962C8B-B14F-4D97-AF65-F5344CB8AC3E}">
        <p14:creationId xmlns:p14="http://schemas.microsoft.com/office/powerpoint/2010/main" val="3571022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246D6-5406-D10B-D8B0-B3F5C274DC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F4DBB8-73A7-37D9-E678-859CE8522D84}"/>
              </a:ext>
            </a:extLst>
          </p:cNvPr>
          <p:cNvSpPr>
            <a:spLocks noGrp="1"/>
          </p:cNvSpPr>
          <p:nvPr>
            <p:ph type="title"/>
          </p:nvPr>
        </p:nvSpPr>
        <p:spPr/>
        <p:txBody>
          <a:bodyPr>
            <a:normAutofit/>
          </a:bodyPr>
          <a:lstStyle/>
          <a:p>
            <a:r>
              <a:rPr lang="en-US" sz="4400" dirty="0">
                <a:latin typeface="Georgia" panose="02040502050405020303" pitchFamily="18" charset="0"/>
              </a:rPr>
              <a:t>Pam DEMO (2)</a:t>
            </a:r>
          </a:p>
        </p:txBody>
      </p:sp>
      <p:sp>
        <p:nvSpPr>
          <p:cNvPr id="3" name="Content Placeholder 2">
            <a:extLst>
              <a:ext uri="{FF2B5EF4-FFF2-40B4-BE49-F238E27FC236}">
                <a16:creationId xmlns:a16="http://schemas.microsoft.com/office/drawing/2014/main" id="{5797445C-AE9C-D74B-841C-42430DC1E0F0}"/>
              </a:ext>
            </a:extLst>
          </p:cNvPr>
          <p:cNvSpPr>
            <a:spLocks noGrp="1"/>
          </p:cNvSpPr>
          <p:nvPr>
            <p:ph idx="1"/>
          </p:nvPr>
        </p:nvSpPr>
        <p:spPr>
          <a:xfrm>
            <a:off x="685802" y="2142067"/>
            <a:ext cx="6458716" cy="3649133"/>
          </a:xfrm>
        </p:spPr>
        <p:txBody>
          <a:bodyPr anchor="t"/>
          <a:lstStyle/>
          <a:p>
            <a:r>
              <a:rPr lang="en-US" dirty="0" err="1"/>
              <a:t>Dpkg</a:t>
            </a:r>
            <a:r>
              <a:rPr lang="en-US" dirty="0"/>
              <a:t> is the Debian package manager</a:t>
            </a:r>
          </a:p>
          <a:p>
            <a:r>
              <a:rPr lang="en-US" dirty="0"/>
              <a:t>The –V option is used to verify packages</a:t>
            </a:r>
          </a:p>
        </p:txBody>
      </p:sp>
      <p:pic>
        <p:nvPicPr>
          <p:cNvPr id="9" name="Picture 8">
            <a:extLst>
              <a:ext uri="{FF2B5EF4-FFF2-40B4-BE49-F238E27FC236}">
                <a16:creationId xmlns:a16="http://schemas.microsoft.com/office/drawing/2014/main" id="{2DF081A8-E3E4-D3F9-C156-C380F8865A0D}"/>
              </a:ext>
            </a:extLst>
          </p:cNvPr>
          <p:cNvPicPr>
            <a:picLocks noChangeAspect="1"/>
          </p:cNvPicPr>
          <p:nvPr/>
        </p:nvPicPr>
        <p:blipFill>
          <a:blip r:embed="rId3"/>
          <a:stretch>
            <a:fillRect/>
          </a:stretch>
        </p:blipFill>
        <p:spPr>
          <a:xfrm>
            <a:off x="7144517" y="2065867"/>
            <a:ext cx="4770533" cy="4275190"/>
          </a:xfrm>
          <a:prstGeom prst="rect">
            <a:avLst/>
          </a:prstGeom>
        </p:spPr>
      </p:pic>
    </p:spTree>
    <p:extLst>
      <p:ext uri="{BB962C8B-B14F-4D97-AF65-F5344CB8AC3E}">
        <p14:creationId xmlns:p14="http://schemas.microsoft.com/office/powerpoint/2010/main" val="410291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A9080-0EFB-5964-6264-112E6BCEFF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51F17C-B10C-95CE-6B4C-2CB91A021202}"/>
              </a:ext>
            </a:extLst>
          </p:cNvPr>
          <p:cNvSpPr>
            <a:spLocks noGrp="1"/>
          </p:cNvSpPr>
          <p:nvPr>
            <p:ph type="title"/>
          </p:nvPr>
        </p:nvSpPr>
        <p:spPr/>
        <p:txBody>
          <a:bodyPr>
            <a:normAutofit/>
          </a:bodyPr>
          <a:lstStyle/>
          <a:p>
            <a:r>
              <a:rPr lang="en-US" sz="4400" dirty="0">
                <a:latin typeface="Georgia" panose="02040502050405020303" pitchFamily="18" charset="0"/>
              </a:rPr>
              <a:t>Pam DEMO (3)</a:t>
            </a:r>
          </a:p>
        </p:txBody>
      </p:sp>
      <p:sp>
        <p:nvSpPr>
          <p:cNvPr id="3" name="Content Placeholder 2">
            <a:extLst>
              <a:ext uri="{FF2B5EF4-FFF2-40B4-BE49-F238E27FC236}">
                <a16:creationId xmlns:a16="http://schemas.microsoft.com/office/drawing/2014/main" id="{FDAC9899-6606-5726-3EAF-FC615D974514}"/>
              </a:ext>
            </a:extLst>
          </p:cNvPr>
          <p:cNvSpPr>
            <a:spLocks noGrp="1"/>
          </p:cNvSpPr>
          <p:nvPr>
            <p:ph idx="1"/>
          </p:nvPr>
        </p:nvSpPr>
        <p:spPr/>
        <p:txBody>
          <a:bodyPr anchor="t"/>
          <a:lstStyle/>
          <a:p>
            <a:r>
              <a:rPr lang="en-US" dirty="0"/>
              <a:t>The below will create a bash script that:</a:t>
            </a:r>
          </a:p>
          <a:p>
            <a:pPr lvl="1"/>
            <a:r>
              <a:rPr lang="en-US" dirty="0"/>
              <a:t>Creates a log file in a /var/log</a:t>
            </a:r>
          </a:p>
          <a:p>
            <a:pPr lvl="1"/>
            <a:r>
              <a:rPr lang="en-US" dirty="0"/>
              <a:t>Drops a text file in the user’s profile</a:t>
            </a:r>
          </a:p>
          <a:p>
            <a:r>
              <a:rPr lang="en-US" dirty="0"/>
              <a:t>Then make the script executable</a:t>
            </a:r>
          </a:p>
        </p:txBody>
      </p:sp>
      <p:pic>
        <p:nvPicPr>
          <p:cNvPr id="7" name="Picture 6">
            <a:extLst>
              <a:ext uri="{FF2B5EF4-FFF2-40B4-BE49-F238E27FC236}">
                <a16:creationId xmlns:a16="http://schemas.microsoft.com/office/drawing/2014/main" id="{912F73B4-B429-D347-0868-3BBC0D4F8723}"/>
              </a:ext>
            </a:extLst>
          </p:cNvPr>
          <p:cNvPicPr>
            <a:picLocks noChangeAspect="1"/>
          </p:cNvPicPr>
          <p:nvPr/>
        </p:nvPicPr>
        <p:blipFill>
          <a:blip r:embed="rId3"/>
          <a:stretch>
            <a:fillRect/>
          </a:stretch>
        </p:blipFill>
        <p:spPr>
          <a:xfrm>
            <a:off x="0" y="4262792"/>
            <a:ext cx="12192000" cy="1985608"/>
          </a:xfrm>
          <a:prstGeom prst="rect">
            <a:avLst/>
          </a:prstGeom>
        </p:spPr>
      </p:pic>
    </p:spTree>
    <p:extLst>
      <p:ext uri="{BB962C8B-B14F-4D97-AF65-F5344CB8AC3E}">
        <p14:creationId xmlns:p14="http://schemas.microsoft.com/office/powerpoint/2010/main" val="3842364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2E53B-9BA6-ED6C-951C-7220F0653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ABDEA-CB95-7284-1982-1F6F68840E67}"/>
              </a:ext>
            </a:extLst>
          </p:cNvPr>
          <p:cNvSpPr>
            <a:spLocks noGrp="1"/>
          </p:cNvSpPr>
          <p:nvPr>
            <p:ph type="title"/>
          </p:nvPr>
        </p:nvSpPr>
        <p:spPr/>
        <p:txBody>
          <a:bodyPr>
            <a:normAutofit/>
          </a:bodyPr>
          <a:lstStyle/>
          <a:p>
            <a:r>
              <a:rPr lang="en-US" sz="4400" dirty="0">
                <a:latin typeface="Georgia" panose="02040502050405020303" pitchFamily="18" charset="0"/>
              </a:rPr>
              <a:t>Pam DEMO (4)</a:t>
            </a:r>
          </a:p>
        </p:txBody>
      </p:sp>
      <p:sp>
        <p:nvSpPr>
          <p:cNvPr id="3" name="Content Placeholder 2">
            <a:extLst>
              <a:ext uri="{FF2B5EF4-FFF2-40B4-BE49-F238E27FC236}">
                <a16:creationId xmlns:a16="http://schemas.microsoft.com/office/drawing/2014/main" id="{1037955B-3FF7-7356-2EC1-7B27FFA6A16E}"/>
              </a:ext>
            </a:extLst>
          </p:cNvPr>
          <p:cNvSpPr>
            <a:spLocks noGrp="1"/>
          </p:cNvSpPr>
          <p:nvPr>
            <p:ph idx="1"/>
          </p:nvPr>
        </p:nvSpPr>
        <p:spPr>
          <a:xfrm>
            <a:off x="685801" y="2142067"/>
            <a:ext cx="6673289" cy="3649133"/>
          </a:xfrm>
        </p:spPr>
        <p:txBody>
          <a:bodyPr anchor="t"/>
          <a:lstStyle/>
          <a:p>
            <a:r>
              <a:rPr lang="en-US" dirty="0"/>
              <a:t>Setting up and confirming </a:t>
            </a:r>
            <a:r>
              <a:rPr lang="en-US" dirty="0" err="1"/>
              <a:t>auditctl</a:t>
            </a:r>
            <a:r>
              <a:rPr lang="en-US" dirty="0"/>
              <a:t> is running</a:t>
            </a:r>
          </a:p>
          <a:p>
            <a:endParaRPr lang="en-US" dirty="0"/>
          </a:p>
          <a:p>
            <a:endParaRPr lang="en-US" dirty="0"/>
          </a:p>
          <a:p>
            <a:endParaRPr lang="en-US" dirty="0"/>
          </a:p>
          <a:p>
            <a:endParaRPr lang="en-US" dirty="0"/>
          </a:p>
          <a:p>
            <a:r>
              <a:rPr lang="en-US" dirty="0"/>
              <a:t>Altering the SSHD configuration file</a:t>
            </a:r>
          </a:p>
        </p:txBody>
      </p:sp>
      <p:pic>
        <p:nvPicPr>
          <p:cNvPr id="15" name="Picture 14">
            <a:extLst>
              <a:ext uri="{FF2B5EF4-FFF2-40B4-BE49-F238E27FC236}">
                <a16:creationId xmlns:a16="http://schemas.microsoft.com/office/drawing/2014/main" id="{08ED2C0A-2B76-3344-D6AD-8897A0576F96}"/>
              </a:ext>
            </a:extLst>
          </p:cNvPr>
          <p:cNvPicPr>
            <a:picLocks noChangeAspect="1"/>
          </p:cNvPicPr>
          <p:nvPr/>
        </p:nvPicPr>
        <p:blipFill>
          <a:blip r:embed="rId3"/>
          <a:stretch>
            <a:fillRect/>
          </a:stretch>
        </p:blipFill>
        <p:spPr>
          <a:xfrm>
            <a:off x="905098" y="2785805"/>
            <a:ext cx="10601099" cy="1073530"/>
          </a:xfrm>
          <a:prstGeom prst="rect">
            <a:avLst/>
          </a:prstGeom>
        </p:spPr>
      </p:pic>
      <p:pic>
        <p:nvPicPr>
          <p:cNvPr id="17" name="Picture 16">
            <a:extLst>
              <a:ext uri="{FF2B5EF4-FFF2-40B4-BE49-F238E27FC236}">
                <a16:creationId xmlns:a16="http://schemas.microsoft.com/office/drawing/2014/main" id="{CC39B7CA-FCC5-2819-F4E7-5CA1302B2CC9}"/>
              </a:ext>
            </a:extLst>
          </p:cNvPr>
          <p:cNvPicPr>
            <a:picLocks noChangeAspect="1"/>
          </p:cNvPicPr>
          <p:nvPr/>
        </p:nvPicPr>
        <p:blipFill>
          <a:blip r:embed="rId4"/>
          <a:stretch>
            <a:fillRect/>
          </a:stretch>
        </p:blipFill>
        <p:spPr>
          <a:xfrm>
            <a:off x="905097" y="4579273"/>
            <a:ext cx="10601099" cy="733182"/>
          </a:xfrm>
          <a:prstGeom prst="rect">
            <a:avLst/>
          </a:prstGeom>
        </p:spPr>
      </p:pic>
    </p:spTree>
    <p:extLst>
      <p:ext uri="{BB962C8B-B14F-4D97-AF65-F5344CB8AC3E}">
        <p14:creationId xmlns:p14="http://schemas.microsoft.com/office/powerpoint/2010/main" val="1150016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CD017-B86B-E049-12C7-0AC1FAC37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B73F9-03C6-AFE0-C64C-563BDB72BBBA}"/>
              </a:ext>
            </a:extLst>
          </p:cNvPr>
          <p:cNvSpPr>
            <a:spLocks noGrp="1"/>
          </p:cNvSpPr>
          <p:nvPr>
            <p:ph type="title"/>
          </p:nvPr>
        </p:nvSpPr>
        <p:spPr/>
        <p:txBody>
          <a:bodyPr>
            <a:normAutofit/>
          </a:bodyPr>
          <a:lstStyle/>
          <a:p>
            <a:r>
              <a:rPr lang="en-US" sz="4400" dirty="0">
                <a:latin typeface="Georgia" panose="02040502050405020303" pitchFamily="18" charset="0"/>
              </a:rPr>
              <a:t>Pam DEMO (5)</a:t>
            </a:r>
          </a:p>
        </p:txBody>
      </p:sp>
      <p:sp>
        <p:nvSpPr>
          <p:cNvPr id="11" name="Content Placeholder 10">
            <a:extLst>
              <a:ext uri="{FF2B5EF4-FFF2-40B4-BE49-F238E27FC236}">
                <a16:creationId xmlns:a16="http://schemas.microsoft.com/office/drawing/2014/main" id="{83B2FA05-21B3-59E7-2C06-E3BD1D6E8382}"/>
              </a:ext>
            </a:extLst>
          </p:cNvPr>
          <p:cNvSpPr>
            <a:spLocks noGrp="1"/>
          </p:cNvSpPr>
          <p:nvPr>
            <p:ph idx="1"/>
          </p:nvPr>
        </p:nvSpPr>
        <p:spPr>
          <a:xfrm>
            <a:off x="685802" y="2142067"/>
            <a:ext cx="6512356" cy="3649133"/>
          </a:xfrm>
        </p:spPr>
        <p:txBody>
          <a:bodyPr anchor="t"/>
          <a:lstStyle/>
          <a:p>
            <a:r>
              <a:rPr lang="en-US" dirty="0"/>
              <a:t>The attacker system logging into the compromised endpoint post PAM tampering</a:t>
            </a:r>
          </a:p>
        </p:txBody>
      </p:sp>
      <p:pic>
        <p:nvPicPr>
          <p:cNvPr id="5" name="Picture 4">
            <a:extLst>
              <a:ext uri="{FF2B5EF4-FFF2-40B4-BE49-F238E27FC236}">
                <a16:creationId xmlns:a16="http://schemas.microsoft.com/office/drawing/2014/main" id="{B7E0F031-A7DD-0192-2D2A-20216AC3E300}"/>
              </a:ext>
            </a:extLst>
          </p:cNvPr>
          <p:cNvPicPr>
            <a:picLocks noChangeAspect="1"/>
          </p:cNvPicPr>
          <p:nvPr/>
        </p:nvPicPr>
        <p:blipFill>
          <a:blip r:embed="rId3"/>
          <a:stretch>
            <a:fillRect/>
          </a:stretch>
        </p:blipFill>
        <p:spPr>
          <a:xfrm>
            <a:off x="5958542" y="2554816"/>
            <a:ext cx="5941360" cy="3693584"/>
          </a:xfrm>
          <a:prstGeom prst="rect">
            <a:avLst/>
          </a:prstGeom>
        </p:spPr>
      </p:pic>
    </p:spTree>
    <p:extLst>
      <p:ext uri="{BB962C8B-B14F-4D97-AF65-F5344CB8AC3E}">
        <p14:creationId xmlns:p14="http://schemas.microsoft.com/office/powerpoint/2010/main" val="159097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37C22-2D4F-A265-1D0B-4473BF5F44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73684-D3A0-18AC-961C-0F9951221F90}"/>
              </a:ext>
            </a:extLst>
          </p:cNvPr>
          <p:cNvSpPr>
            <a:spLocks noGrp="1"/>
          </p:cNvSpPr>
          <p:nvPr>
            <p:ph type="title"/>
          </p:nvPr>
        </p:nvSpPr>
        <p:spPr/>
        <p:txBody>
          <a:bodyPr>
            <a:normAutofit/>
          </a:bodyPr>
          <a:lstStyle/>
          <a:p>
            <a:r>
              <a:rPr lang="en-US" sz="4400" dirty="0">
                <a:latin typeface="Georgia" panose="02040502050405020303" pitchFamily="18" charset="0"/>
              </a:rPr>
              <a:t>Pam DEMO (6)</a:t>
            </a:r>
          </a:p>
        </p:txBody>
      </p:sp>
      <p:sp>
        <p:nvSpPr>
          <p:cNvPr id="11" name="Content Placeholder 10">
            <a:extLst>
              <a:ext uri="{FF2B5EF4-FFF2-40B4-BE49-F238E27FC236}">
                <a16:creationId xmlns:a16="http://schemas.microsoft.com/office/drawing/2014/main" id="{F4FC60FE-EC2C-EAED-B5D4-D1E12893A648}"/>
              </a:ext>
            </a:extLst>
          </p:cNvPr>
          <p:cNvSpPr>
            <a:spLocks noGrp="1"/>
          </p:cNvSpPr>
          <p:nvPr>
            <p:ph idx="1"/>
          </p:nvPr>
        </p:nvSpPr>
        <p:spPr>
          <a:xfrm>
            <a:off x="685801" y="2142067"/>
            <a:ext cx="8231428" cy="3649133"/>
          </a:xfrm>
        </p:spPr>
        <p:txBody>
          <a:bodyPr anchor="t"/>
          <a:lstStyle/>
          <a:p>
            <a:r>
              <a:rPr lang="en-US" dirty="0"/>
              <a:t>Checking the marker log file created shows connections to the endpoint.</a:t>
            </a:r>
          </a:p>
          <a:p>
            <a:endParaRPr lang="en-US" dirty="0"/>
          </a:p>
          <a:p>
            <a:endParaRPr lang="en-US" dirty="0"/>
          </a:p>
          <a:p>
            <a:endParaRPr lang="en-US" dirty="0"/>
          </a:p>
          <a:p>
            <a:endParaRPr lang="en-US" dirty="0"/>
          </a:p>
          <a:p>
            <a:endParaRPr lang="en-US" dirty="0"/>
          </a:p>
          <a:p>
            <a:r>
              <a:rPr lang="en-US" dirty="0"/>
              <a:t>The dropped file is also shown when we drop it here.</a:t>
            </a:r>
          </a:p>
        </p:txBody>
      </p:sp>
      <p:pic>
        <p:nvPicPr>
          <p:cNvPr id="14" name="Picture 13">
            <a:extLst>
              <a:ext uri="{FF2B5EF4-FFF2-40B4-BE49-F238E27FC236}">
                <a16:creationId xmlns:a16="http://schemas.microsoft.com/office/drawing/2014/main" id="{5EB6AA39-E937-6739-6FCC-DEED775F26B3}"/>
              </a:ext>
            </a:extLst>
          </p:cNvPr>
          <p:cNvPicPr>
            <a:picLocks noChangeAspect="1"/>
          </p:cNvPicPr>
          <p:nvPr/>
        </p:nvPicPr>
        <p:blipFill>
          <a:blip r:embed="rId3"/>
          <a:stretch>
            <a:fillRect/>
          </a:stretch>
        </p:blipFill>
        <p:spPr>
          <a:xfrm>
            <a:off x="870996" y="2580446"/>
            <a:ext cx="7468332" cy="1725279"/>
          </a:xfrm>
          <a:prstGeom prst="rect">
            <a:avLst/>
          </a:prstGeom>
        </p:spPr>
      </p:pic>
      <p:pic>
        <p:nvPicPr>
          <p:cNvPr id="18" name="Picture 17">
            <a:extLst>
              <a:ext uri="{FF2B5EF4-FFF2-40B4-BE49-F238E27FC236}">
                <a16:creationId xmlns:a16="http://schemas.microsoft.com/office/drawing/2014/main" id="{28BC0CE6-607A-EB13-3E8B-0E9A758C7E0F}"/>
              </a:ext>
            </a:extLst>
          </p:cNvPr>
          <p:cNvPicPr>
            <a:picLocks noChangeAspect="1"/>
          </p:cNvPicPr>
          <p:nvPr/>
        </p:nvPicPr>
        <p:blipFill>
          <a:blip r:embed="rId4"/>
          <a:stretch>
            <a:fillRect/>
          </a:stretch>
        </p:blipFill>
        <p:spPr>
          <a:xfrm>
            <a:off x="870996" y="5062273"/>
            <a:ext cx="7468332" cy="534484"/>
          </a:xfrm>
          <a:prstGeom prst="rect">
            <a:avLst/>
          </a:prstGeom>
        </p:spPr>
      </p:pic>
    </p:spTree>
    <p:extLst>
      <p:ext uri="{BB962C8B-B14F-4D97-AF65-F5344CB8AC3E}">
        <p14:creationId xmlns:p14="http://schemas.microsoft.com/office/powerpoint/2010/main" val="3903849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DF92D-EBD5-C5AA-1435-DE0843712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10D8B-0EA4-4D16-1BFF-E542A9730771}"/>
              </a:ext>
            </a:extLst>
          </p:cNvPr>
          <p:cNvSpPr>
            <a:spLocks noGrp="1"/>
          </p:cNvSpPr>
          <p:nvPr>
            <p:ph type="title"/>
          </p:nvPr>
        </p:nvSpPr>
        <p:spPr/>
        <p:txBody>
          <a:bodyPr>
            <a:normAutofit/>
          </a:bodyPr>
          <a:lstStyle/>
          <a:p>
            <a:r>
              <a:rPr lang="en-US" sz="4400" dirty="0">
                <a:latin typeface="Georgia" panose="02040502050405020303" pitchFamily="18" charset="0"/>
              </a:rPr>
              <a:t>Pam Detection (1)</a:t>
            </a:r>
          </a:p>
        </p:txBody>
      </p:sp>
      <p:sp>
        <p:nvSpPr>
          <p:cNvPr id="3" name="Content Placeholder 2">
            <a:extLst>
              <a:ext uri="{FF2B5EF4-FFF2-40B4-BE49-F238E27FC236}">
                <a16:creationId xmlns:a16="http://schemas.microsoft.com/office/drawing/2014/main" id="{35516C44-42D3-35BC-8087-079E50355937}"/>
              </a:ext>
            </a:extLst>
          </p:cNvPr>
          <p:cNvSpPr>
            <a:spLocks noGrp="1"/>
          </p:cNvSpPr>
          <p:nvPr>
            <p:ph idx="1"/>
          </p:nvPr>
        </p:nvSpPr>
        <p:spPr>
          <a:xfrm>
            <a:off x="685801" y="2142067"/>
            <a:ext cx="10131425" cy="4403699"/>
          </a:xfrm>
        </p:spPr>
        <p:txBody>
          <a:bodyPr anchor="t" anchorCtr="0">
            <a:noAutofit/>
          </a:bodyPr>
          <a:lstStyle/>
          <a:p>
            <a:r>
              <a:rPr lang="en-US" sz="2000" dirty="0">
                <a:latin typeface="Helvetica Light"/>
              </a:rPr>
              <a:t>Detection 1 – Package Verification</a:t>
            </a:r>
          </a:p>
          <a:p>
            <a:pPr lvl="1"/>
            <a:r>
              <a:rPr lang="en-US" sz="1800" dirty="0" err="1">
                <a:latin typeface="Helvetica Light"/>
              </a:rPr>
              <a:t>dpkg</a:t>
            </a:r>
            <a:r>
              <a:rPr lang="en-US" sz="1800" dirty="0">
                <a:latin typeface="Helvetica Light"/>
              </a:rPr>
              <a:t> –V </a:t>
            </a:r>
            <a:r>
              <a:rPr lang="en-US" sz="1800" dirty="0" err="1">
                <a:latin typeface="Helvetica Light"/>
              </a:rPr>
              <a:t>openssh</a:t>
            </a:r>
            <a:r>
              <a:rPr lang="en-US" sz="1800" dirty="0">
                <a:latin typeface="Helvetica Light"/>
              </a:rPr>
              <a:t>-server</a:t>
            </a:r>
          </a:p>
          <a:p>
            <a:pPr lvl="1"/>
            <a:r>
              <a:rPr lang="en-US" sz="1800" dirty="0" err="1">
                <a:latin typeface="Helvetica Light"/>
              </a:rPr>
              <a:t>dpkg</a:t>
            </a:r>
            <a:r>
              <a:rPr lang="en-US" sz="1800" dirty="0">
                <a:latin typeface="Helvetica Light"/>
              </a:rPr>
              <a:t> –S /usr/local/bin/.pam_marker.sh</a:t>
            </a:r>
          </a:p>
          <a:p>
            <a:endParaRPr lang="en-US" sz="2000" dirty="0">
              <a:latin typeface="Helvetica Light"/>
            </a:endParaRPr>
          </a:p>
          <a:p>
            <a:r>
              <a:rPr lang="en-US" sz="2000" dirty="0">
                <a:latin typeface="Helvetica Light"/>
              </a:rPr>
              <a:t>Detection 2 – Timestamps</a:t>
            </a:r>
          </a:p>
          <a:p>
            <a:pPr lvl="1"/>
            <a:r>
              <a:rPr lang="en-US" sz="1800" dirty="0">
                <a:latin typeface="Helvetica Light"/>
              </a:rPr>
              <a:t>stat /</a:t>
            </a:r>
            <a:r>
              <a:rPr lang="en-US" sz="1800" dirty="0" err="1">
                <a:latin typeface="Helvetica Light"/>
              </a:rPr>
              <a:t>etc</a:t>
            </a:r>
            <a:r>
              <a:rPr lang="en-US" sz="1800" dirty="0">
                <a:latin typeface="Helvetica Light"/>
              </a:rPr>
              <a:t>/</a:t>
            </a:r>
            <a:r>
              <a:rPr lang="en-US" sz="1800" dirty="0" err="1">
                <a:latin typeface="Helvetica Light"/>
              </a:rPr>
              <a:t>pam.d</a:t>
            </a:r>
            <a:r>
              <a:rPr lang="en-US" sz="1800" dirty="0">
                <a:latin typeface="Helvetica Light"/>
              </a:rPr>
              <a:t>/</a:t>
            </a:r>
            <a:r>
              <a:rPr lang="en-US" sz="1800" dirty="0" err="1">
                <a:latin typeface="Helvetica Light"/>
              </a:rPr>
              <a:t>sshd</a:t>
            </a:r>
            <a:endParaRPr lang="en-US" sz="1800" dirty="0">
              <a:latin typeface="Helvetica Light"/>
            </a:endParaRPr>
          </a:p>
          <a:p>
            <a:pPr lvl="1"/>
            <a:endParaRPr lang="en-US" sz="1800" dirty="0">
              <a:latin typeface="Helvetica Light"/>
            </a:endParaRPr>
          </a:p>
          <a:p>
            <a:pPr lvl="1"/>
            <a:endParaRPr lang="en-US" sz="1800" dirty="0">
              <a:latin typeface="Helvetica Light"/>
            </a:endParaRPr>
          </a:p>
          <a:p>
            <a:r>
              <a:rPr lang="en-US" sz="2000" dirty="0">
                <a:latin typeface="Helvetica Light"/>
              </a:rPr>
              <a:t>Detection 3 – OS Query</a:t>
            </a:r>
          </a:p>
          <a:p>
            <a:pPr lvl="1"/>
            <a:r>
              <a:rPr lang="en-US" dirty="0"/>
              <a:t>SELECT path, filename, </a:t>
            </a:r>
            <a:r>
              <a:rPr lang="en-US" dirty="0" err="1"/>
              <a:t>mtime</a:t>
            </a:r>
            <a:r>
              <a:rPr lang="en-US" dirty="0"/>
              <a:t>, </a:t>
            </a:r>
            <a:r>
              <a:rPr lang="en-US" dirty="0" err="1"/>
              <a:t>ctime</a:t>
            </a:r>
            <a:r>
              <a:rPr lang="en-US" dirty="0"/>
              <a:t>, </a:t>
            </a:r>
            <a:r>
              <a:rPr lang="en-US" dirty="0" err="1"/>
              <a:t>uid</a:t>
            </a:r>
            <a:r>
              <a:rPr lang="en-US" dirty="0"/>
              <a:t>, gid, size, hash.sha256 FROM file WHERE path = '/</a:t>
            </a:r>
            <a:r>
              <a:rPr lang="en-US" dirty="0" err="1"/>
              <a:t>etc</a:t>
            </a:r>
            <a:r>
              <a:rPr lang="en-US" dirty="0"/>
              <a:t>/</a:t>
            </a:r>
            <a:r>
              <a:rPr lang="en-US" dirty="0" err="1"/>
              <a:t>pam.d</a:t>
            </a:r>
            <a:r>
              <a:rPr lang="en-US" dirty="0"/>
              <a:t>’;</a:t>
            </a:r>
          </a:p>
          <a:p>
            <a:pPr lvl="1"/>
            <a:endParaRPr lang="en-US" dirty="0">
              <a:latin typeface="Helvetica Light"/>
            </a:endParaRPr>
          </a:p>
          <a:p>
            <a:endParaRPr lang="en-US" sz="2000" dirty="0">
              <a:latin typeface="Helvetica Light"/>
            </a:endParaRPr>
          </a:p>
          <a:p>
            <a:endParaRPr lang="en-US" sz="2000" dirty="0">
              <a:latin typeface="Helvetica Light"/>
            </a:endParaRPr>
          </a:p>
        </p:txBody>
      </p:sp>
      <p:pic>
        <p:nvPicPr>
          <p:cNvPr id="5" name="Picture 4">
            <a:extLst>
              <a:ext uri="{FF2B5EF4-FFF2-40B4-BE49-F238E27FC236}">
                <a16:creationId xmlns:a16="http://schemas.microsoft.com/office/drawing/2014/main" id="{5ED16BA4-1B86-6FB1-0F14-768E4219DFF3}"/>
              </a:ext>
            </a:extLst>
          </p:cNvPr>
          <p:cNvPicPr>
            <a:picLocks noChangeAspect="1"/>
          </p:cNvPicPr>
          <p:nvPr/>
        </p:nvPicPr>
        <p:blipFill>
          <a:blip r:embed="rId3"/>
          <a:stretch>
            <a:fillRect/>
          </a:stretch>
        </p:blipFill>
        <p:spPr>
          <a:xfrm>
            <a:off x="5473105" y="2142067"/>
            <a:ext cx="6601665" cy="823871"/>
          </a:xfrm>
          <a:prstGeom prst="rect">
            <a:avLst/>
          </a:prstGeom>
        </p:spPr>
      </p:pic>
      <p:pic>
        <p:nvPicPr>
          <p:cNvPr id="7" name="Picture 6">
            <a:extLst>
              <a:ext uri="{FF2B5EF4-FFF2-40B4-BE49-F238E27FC236}">
                <a16:creationId xmlns:a16="http://schemas.microsoft.com/office/drawing/2014/main" id="{0581EAB6-7FBD-9991-1D72-879938E022BD}"/>
              </a:ext>
            </a:extLst>
          </p:cNvPr>
          <p:cNvPicPr>
            <a:picLocks noChangeAspect="1"/>
          </p:cNvPicPr>
          <p:nvPr/>
        </p:nvPicPr>
        <p:blipFill>
          <a:blip r:embed="rId4"/>
          <a:stretch>
            <a:fillRect/>
          </a:stretch>
        </p:blipFill>
        <p:spPr>
          <a:xfrm>
            <a:off x="6553201" y="3892063"/>
            <a:ext cx="5521569" cy="1538951"/>
          </a:xfrm>
          <a:prstGeom prst="rect">
            <a:avLst/>
          </a:prstGeom>
        </p:spPr>
      </p:pic>
    </p:spTree>
    <p:extLst>
      <p:ext uri="{BB962C8B-B14F-4D97-AF65-F5344CB8AC3E}">
        <p14:creationId xmlns:p14="http://schemas.microsoft.com/office/powerpoint/2010/main" val="1519621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6B361-412E-3089-C65D-1B6BA0CB6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F8BEA8-E42E-7A94-DC5D-40A0FBEAC805}"/>
              </a:ext>
            </a:extLst>
          </p:cNvPr>
          <p:cNvSpPr>
            <a:spLocks noGrp="1"/>
          </p:cNvSpPr>
          <p:nvPr>
            <p:ph type="title"/>
          </p:nvPr>
        </p:nvSpPr>
        <p:spPr/>
        <p:txBody>
          <a:bodyPr>
            <a:normAutofit/>
          </a:bodyPr>
          <a:lstStyle/>
          <a:p>
            <a:r>
              <a:rPr lang="en-US" sz="4400" dirty="0">
                <a:latin typeface="Georgia" panose="02040502050405020303" pitchFamily="18" charset="0"/>
              </a:rPr>
              <a:t>Pam Detection (2)</a:t>
            </a:r>
          </a:p>
        </p:txBody>
      </p:sp>
      <p:sp>
        <p:nvSpPr>
          <p:cNvPr id="3" name="Content Placeholder 2">
            <a:extLst>
              <a:ext uri="{FF2B5EF4-FFF2-40B4-BE49-F238E27FC236}">
                <a16:creationId xmlns:a16="http://schemas.microsoft.com/office/drawing/2014/main" id="{C755F519-359E-9B95-253A-E08E4DA224AE}"/>
              </a:ext>
            </a:extLst>
          </p:cNvPr>
          <p:cNvSpPr>
            <a:spLocks noGrp="1"/>
          </p:cNvSpPr>
          <p:nvPr>
            <p:ph idx="1"/>
          </p:nvPr>
        </p:nvSpPr>
        <p:spPr>
          <a:xfrm>
            <a:off x="685801" y="2142067"/>
            <a:ext cx="10131425" cy="4403699"/>
          </a:xfrm>
        </p:spPr>
        <p:txBody>
          <a:bodyPr anchor="t" anchorCtr="0">
            <a:noAutofit/>
          </a:bodyPr>
          <a:lstStyle/>
          <a:p>
            <a:r>
              <a:rPr lang="en-US" sz="2000" dirty="0">
                <a:latin typeface="Helvetica Light"/>
              </a:rPr>
              <a:t>Detection 4 – </a:t>
            </a:r>
            <a:r>
              <a:rPr lang="en-US" sz="2000" dirty="0" err="1">
                <a:latin typeface="Helvetica Light"/>
              </a:rPr>
              <a:t>auditd</a:t>
            </a:r>
            <a:endParaRPr lang="en-US" sz="2000" dirty="0">
              <a:latin typeface="Helvetica Light"/>
            </a:endParaRPr>
          </a:p>
          <a:p>
            <a:pPr lvl="1"/>
            <a:r>
              <a:rPr lang="en-US" sz="1800" dirty="0" err="1">
                <a:latin typeface="Helvetica Light"/>
              </a:rPr>
              <a:t>auditctl</a:t>
            </a:r>
            <a:r>
              <a:rPr lang="en-US" sz="1800" dirty="0">
                <a:latin typeface="Helvetica Light"/>
              </a:rPr>
              <a:t> –w /</a:t>
            </a:r>
            <a:r>
              <a:rPr lang="en-US" sz="1800" dirty="0" err="1">
                <a:latin typeface="Helvetica Light"/>
              </a:rPr>
              <a:t>etc</a:t>
            </a:r>
            <a:r>
              <a:rPr lang="en-US" sz="1800" dirty="0">
                <a:latin typeface="Helvetica Light"/>
              </a:rPr>
              <a:t>/</a:t>
            </a:r>
            <a:r>
              <a:rPr lang="en-US" sz="1800" dirty="0" err="1">
                <a:latin typeface="Helvetica Light"/>
              </a:rPr>
              <a:t>pam.d</a:t>
            </a:r>
            <a:r>
              <a:rPr lang="en-US" sz="1800" dirty="0">
                <a:latin typeface="Helvetica Light"/>
              </a:rPr>
              <a:t>/ -p </a:t>
            </a:r>
            <a:r>
              <a:rPr lang="en-US" sz="1800" dirty="0" err="1">
                <a:latin typeface="Helvetica Light"/>
              </a:rPr>
              <a:t>wa</a:t>
            </a:r>
            <a:r>
              <a:rPr lang="en-US" sz="1800" dirty="0">
                <a:latin typeface="Helvetica Light"/>
              </a:rPr>
              <a:t> –k </a:t>
            </a:r>
            <a:r>
              <a:rPr lang="en-US" sz="1800" dirty="0" err="1">
                <a:latin typeface="Helvetica Light"/>
              </a:rPr>
              <a:t>pam_config</a:t>
            </a:r>
            <a:endParaRPr lang="en-US" sz="1800" dirty="0">
              <a:latin typeface="Helvetica Light"/>
            </a:endParaRPr>
          </a:p>
          <a:p>
            <a:pPr lvl="1"/>
            <a:r>
              <a:rPr lang="en-US" sz="1800" dirty="0" err="1">
                <a:latin typeface="Helvetica Light"/>
              </a:rPr>
              <a:t>ausearch</a:t>
            </a:r>
            <a:r>
              <a:rPr lang="en-US" sz="1800" dirty="0">
                <a:latin typeface="Helvetica Light"/>
              </a:rPr>
              <a:t> –k </a:t>
            </a:r>
            <a:r>
              <a:rPr lang="en-US" sz="1800" dirty="0" err="1">
                <a:latin typeface="Helvetica Light"/>
              </a:rPr>
              <a:t>pam_config</a:t>
            </a:r>
            <a:r>
              <a:rPr lang="en-US" sz="1800" dirty="0">
                <a:latin typeface="Helvetica Light"/>
              </a:rPr>
              <a:t> –</a:t>
            </a:r>
            <a:r>
              <a:rPr lang="en-US" sz="1800" dirty="0" err="1">
                <a:latin typeface="Helvetica Light"/>
              </a:rPr>
              <a:t>i</a:t>
            </a:r>
            <a:r>
              <a:rPr lang="en-US" sz="1800" dirty="0">
                <a:latin typeface="Helvetica Light"/>
              </a:rPr>
              <a:t> | tail</a:t>
            </a:r>
          </a:p>
        </p:txBody>
      </p:sp>
      <p:pic>
        <p:nvPicPr>
          <p:cNvPr id="9" name="Picture 8">
            <a:extLst>
              <a:ext uri="{FF2B5EF4-FFF2-40B4-BE49-F238E27FC236}">
                <a16:creationId xmlns:a16="http://schemas.microsoft.com/office/drawing/2014/main" id="{BE97BDEB-E0EA-C749-BF98-FEEA2A76C61D}"/>
              </a:ext>
            </a:extLst>
          </p:cNvPr>
          <p:cNvPicPr>
            <a:picLocks noChangeAspect="1"/>
          </p:cNvPicPr>
          <p:nvPr/>
        </p:nvPicPr>
        <p:blipFill>
          <a:blip r:embed="rId2"/>
          <a:stretch>
            <a:fillRect/>
          </a:stretch>
        </p:blipFill>
        <p:spPr>
          <a:xfrm>
            <a:off x="60835" y="3709083"/>
            <a:ext cx="12070330" cy="2315077"/>
          </a:xfrm>
          <a:prstGeom prst="rect">
            <a:avLst/>
          </a:prstGeom>
        </p:spPr>
      </p:pic>
    </p:spTree>
    <p:extLst>
      <p:ext uri="{BB962C8B-B14F-4D97-AF65-F5344CB8AC3E}">
        <p14:creationId xmlns:p14="http://schemas.microsoft.com/office/powerpoint/2010/main" val="1919897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7E4243-7EC2-86E4-AF96-79662D4B9157}"/>
              </a:ext>
            </a:extLst>
          </p:cNvPr>
          <p:cNvSpPr>
            <a:spLocks noGrp="1"/>
          </p:cNvSpPr>
          <p:nvPr>
            <p:ph type="title"/>
          </p:nvPr>
        </p:nvSpPr>
        <p:spPr/>
        <p:txBody>
          <a:bodyPr>
            <a:normAutofit/>
          </a:bodyPr>
          <a:lstStyle/>
          <a:p>
            <a:r>
              <a:rPr lang="en-US" sz="4400" dirty="0">
                <a:latin typeface="Georgia" panose="02040502050405020303" pitchFamily="18" charset="0"/>
              </a:rPr>
              <a:t>LD_PRELOAD</a:t>
            </a:r>
          </a:p>
        </p:txBody>
      </p:sp>
      <p:sp>
        <p:nvSpPr>
          <p:cNvPr id="5" name="Text Placeholder 4">
            <a:extLst>
              <a:ext uri="{FF2B5EF4-FFF2-40B4-BE49-F238E27FC236}">
                <a16:creationId xmlns:a16="http://schemas.microsoft.com/office/drawing/2014/main" id="{04049BDB-7B2D-44D7-069E-5E72DECDC9D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97899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CA087-FEB5-070B-A68D-E336ADAD7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9B5177-3D4F-9BDA-A42E-086C290645B9}"/>
              </a:ext>
            </a:extLst>
          </p:cNvPr>
          <p:cNvSpPr>
            <a:spLocks noGrp="1"/>
          </p:cNvSpPr>
          <p:nvPr>
            <p:ph type="title"/>
          </p:nvPr>
        </p:nvSpPr>
        <p:spPr/>
        <p:txBody>
          <a:bodyPr>
            <a:normAutofit/>
          </a:bodyPr>
          <a:lstStyle/>
          <a:p>
            <a:r>
              <a:rPr lang="en-US" sz="4400" dirty="0" err="1">
                <a:latin typeface="Georgia" panose="02040502050405020303" pitchFamily="18" charset="0"/>
              </a:rPr>
              <a:t>Ld_preload</a:t>
            </a:r>
            <a:r>
              <a:rPr lang="en-US" sz="4400" dirty="0">
                <a:latin typeface="Georgia" panose="02040502050405020303" pitchFamily="18" charset="0"/>
              </a:rPr>
              <a:t> mechanics</a:t>
            </a:r>
          </a:p>
        </p:txBody>
      </p:sp>
      <p:sp>
        <p:nvSpPr>
          <p:cNvPr id="3" name="Content Placeholder 2">
            <a:extLst>
              <a:ext uri="{FF2B5EF4-FFF2-40B4-BE49-F238E27FC236}">
                <a16:creationId xmlns:a16="http://schemas.microsoft.com/office/drawing/2014/main" id="{2E35CD00-E795-4660-C006-91937A7B6020}"/>
              </a:ext>
            </a:extLst>
          </p:cNvPr>
          <p:cNvSpPr>
            <a:spLocks noGrp="1"/>
          </p:cNvSpPr>
          <p:nvPr>
            <p:ph idx="1"/>
          </p:nvPr>
        </p:nvSpPr>
        <p:spPr>
          <a:xfrm>
            <a:off x="685801" y="2142067"/>
            <a:ext cx="5410199" cy="3649133"/>
          </a:xfrm>
        </p:spPr>
        <p:txBody>
          <a:bodyPr anchor="t" anchorCtr="0">
            <a:noAutofit/>
          </a:bodyPr>
          <a:lstStyle/>
          <a:p>
            <a:r>
              <a:rPr lang="en-US" sz="2000" dirty="0">
                <a:latin typeface="Helvetica Light"/>
              </a:rPr>
              <a:t>The chain follows: </a:t>
            </a:r>
          </a:p>
          <a:p>
            <a:pPr lvl="1"/>
            <a:r>
              <a:rPr lang="en-US" sz="2000" dirty="0">
                <a:latin typeface="Helvetica Light"/>
              </a:rPr>
              <a:t>binary </a:t>
            </a:r>
          </a:p>
          <a:p>
            <a:pPr lvl="1"/>
            <a:r>
              <a:rPr lang="en-US" sz="2000" dirty="0">
                <a:latin typeface="Helvetica Light"/>
              </a:rPr>
              <a:t>ld.so  </a:t>
            </a:r>
          </a:p>
          <a:p>
            <a:pPr lvl="1"/>
            <a:r>
              <a:rPr lang="en-US" sz="2000" dirty="0">
                <a:latin typeface="Helvetica Light"/>
              </a:rPr>
              <a:t>resolves shared library </a:t>
            </a:r>
          </a:p>
          <a:p>
            <a:pPr lvl="1"/>
            <a:r>
              <a:rPr lang="en-US" sz="2000" dirty="0">
                <a:latin typeface="Helvetica Light"/>
              </a:rPr>
              <a:t>Runtime</a:t>
            </a:r>
          </a:p>
          <a:p>
            <a:r>
              <a:rPr lang="en-US" sz="2000" dirty="0">
                <a:latin typeface="Helvetica Light"/>
              </a:rPr>
              <a:t>This can be altered before the hook</a:t>
            </a:r>
          </a:p>
          <a:p>
            <a:pPr lvl="1"/>
            <a:r>
              <a:rPr lang="en-US" sz="2000" dirty="0">
                <a:latin typeface="Helvetica Light"/>
              </a:rPr>
              <a:t>/</a:t>
            </a:r>
            <a:r>
              <a:rPr lang="en-US" sz="2000" dirty="0" err="1">
                <a:latin typeface="Helvetica Light"/>
              </a:rPr>
              <a:t>etc</a:t>
            </a:r>
            <a:r>
              <a:rPr lang="en-US" sz="2000" dirty="0">
                <a:latin typeface="Helvetica Light"/>
              </a:rPr>
              <a:t>/</a:t>
            </a:r>
            <a:r>
              <a:rPr lang="en-US" sz="2000" dirty="0" err="1">
                <a:latin typeface="Helvetica Light"/>
              </a:rPr>
              <a:t>ld.so.preload</a:t>
            </a:r>
            <a:endParaRPr lang="en-US" sz="2000" dirty="0">
              <a:latin typeface="Helvetica Light"/>
            </a:endParaRPr>
          </a:p>
          <a:p>
            <a:pPr lvl="1"/>
            <a:r>
              <a:rPr lang="en-US" sz="2000" dirty="0">
                <a:latin typeface="Helvetica Light"/>
              </a:rPr>
              <a:t>Hook .so loads first</a:t>
            </a:r>
          </a:p>
          <a:p>
            <a:pPr lvl="1"/>
            <a:r>
              <a:rPr lang="en-US" sz="2000" dirty="0">
                <a:latin typeface="Helvetica Light"/>
              </a:rPr>
              <a:t>Overrides symbols in </a:t>
            </a:r>
            <a:r>
              <a:rPr lang="en-US" sz="2000" dirty="0" err="1">
                <a:latin typeface="Helvetica Light"/>
              </a:rPr>
              <a:t>libc</a:t>
            </a:r>
            <a:endParaRPr lang="en-US" sz="2000" dirty="0">
              <a:latin typeface="Helvetica Light"/>
            </a:endParaRPr>
          </a:p>
        </p:txBody>
      </p:sp>
      <p:sp>
        <p:nvSpPr>
          <p:cNvPr id="5" name="Content Placeholder 2">
            <a:extLst>
              <a:ext uri="{FF2B5EF4-FFF2-40B4-BE49-F238E27FC236}">
                <a16:creationId xmlns:a16="http://schemas.microsoft.com/office/drawing/2014/main" id="{49A6A41B-002C-6E07-EF44-AB0B7F01A720}"/>
              </a:ext>
            </a:extLst>
          </p:cNvPr>
          <p:cNvSpPr txBox="1">
            <a:spLocks/>
          </p:cNvSpPr>
          <p:nvPr/>
        </p:nvSpPr>
        <p:spPr>
          <a:xfrm>
            <a:off x="6096000" y="2142066"/>
            <a:ext cx="5410199" cy="3649133"/>
          </a:xfrm>
          <a:prstGeom prst="rect">
            <a:avLst/>
          </a:prstGeom>
        </p:spPr>
        <p:txBody>
          <a:bodyPr vert="horz" lIns="91440" tIns="45720" rIns="91440" bIns="45720" rtlCol="0" anchor="t" anchorCtr="0">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2000" dirty="0">
                <a:latin typeface="Helvetica Light"/>
              </a:rPr>
              <a:t>Persistence locations missed:</a:t>
            </a:r>
          </a:p>
          <a:p>
            <a:endParaRPr lang="en-US" sz="2000" dirty="0">
              <a:latin typeface="Helvetica Light"/>
            </a:endParaRPr>
          </a:p>
        </p:txBody>
      </p:sp>
      <p:graphicFrame>
        <p:nvGraphicFramePr>
          <p:cNvPr id="6" name="Table 5">
            <a:extLst>
              <a:ext uri="{FF2B5EF4-FFF2-40B4-BE49-F238E27FC236}">
                <a16:creationId xmlns:a16="http://schemas.microsoft.com/office/drawing/2014/main" id="{10C98224-E275-FE16-68F4-A273C59CB4D7}"/>
              </a:ext>
            </a:extLst>
          </p:cNvPr>
          <p:cNvGraphicFramePr>
            <a:graphicFrameLocks noGrp="1"/>
          </p:cNvGraphicFramePr>
          <p:nvPr>
            <p:extLst>
              <p:ext uri="{D42A27DB-BD31-4B8C-83A1-F6EECF244321}">
                <p14:modId xmlns:p14="http://schemas.microsoft.com/office/powerpoint/2010/main" val="159824063"/>
              </p:ext>
            </p:extLst>
          </p:nvPr>
        </p:nvGraphicFramePr>
        <p:xfrm>
          <a:off x="6512312" y="2776654"/>
          <a:ext cx="5119648" cy="3354314"/>
        </p:xfrm>
        <a:graphic>
          <a:graphicData uri="http://schemas.openxmlformats.org/drawingml/2006/table">
            <a:tbl>
              <a:tblPr firstRow="1" bandRow="1">
                <a:tableStyleId>{5C22544A-7EE6-4342-B048-85BDC9FD1C3A}</a:tableStyleId>
              </a:tblPr>
              <a:tblGrid>
                <a:gridCol w="2559824">
                  <a:extLst>
                    <a:ext uri="{9D8B030D-6E8A-4147-A177-3AD203B41FA5}">
                      <a16:colId xmlns:a16="http://schemas.microsoft.com/office/drawing/2014/main" val="239894547"/>
                    </a:ext>
                  </a:extLst>
                </a:gridCol>
                <a:gridCol w="2559824">
                  <a:extLst>
                    <a:ext uri="{9D8B030D-6E8A-4147-A177-3AD203B41FA5}">
                      <a16:colId xmlns:a16="http://schemas.microsoft.com/office/drawing/2014/main" val="3397814696"/>
                    </a:ext>
                  </a:extLst>
                </a:gridCol>
              </a:tblGrid>
              <a:tr h="493691">
                <a:tc>
                  <a:txBody>
                    <a:bodyPr/>
                    <a:lstStyle/>
                    <a:p>
                      <a:r>
                        <a:rPr lang="en-US" dirty="0"/>
                        <a:t>Location</a:t>
                      </a:r>
                    </a:p>
                  </a:txBody>
                  <a:tcPr/>
                </a:tc>
                <a:tc>
                  <a:txBody>
                    <a:bodyPr/>
                    <a:lstStyle/>
                    <a:p>
                      <a:r>
                        <a:rPr lang="en-US" dirty="0"/>
                        <a:t>Scope</a:t>
                      </a:r>
                    </a:p>
                  </a:txBody>
                  <a:tcPr/>
                </a:tc>
                <a:extLst>
                  <a:ext uri="{0D108BD9-81ED-4DB2-BD59-A6C34878D82A}">
                    <a16:rowId xmlns:a16="http://schemas.microsoft.com/office/drawing/2014/main" val="2395072369"/>
                  </a:ext>
                </a:extLst>
              </a:tr>
              <a:tr h="648741">
                <a:tc>
                  <a:txBody>
                    <a:bodyPr/>
                    <a:lstStyle/>
                    <a:p>
                      <a:r>
                        <a:rPr lang="en-US" dirty="0"/>
                        <a:t>/</a:t>
                      </a:r>
                      <a:r>
                        <a:rPr lang="en-US" dirty="0" err="1"/>
                        <a:t>etc</a:t>
                      </a:r>
                      <a:r>
                        <a:rPr lang="en-US" dirty="0"/>
                        <a:t>/</a:t>
                      </a:r>
                      <a:r>
                        <a:rPr lang="en-US" dirty="0" err="1"/>
                        <a:t>ld.so.preload</a:t>
                      </a:r>
                      <a:endParaRPr lang="en-US" dirty="0"/>
                    </a:p>
                  </a:txBody>
                  <a:tcPr/>
                </a:tc>
                <a:tc>
                  <a:txBody>
                    <a:bodyPr/>
                    <a:lstStyle/>
                    <a:p>
                      <a:r>
                        <a:rPr lang="en-US" dirty="0"/>
                        <a:t>Every dynamically linked binary system-wide</a:t>
                      </a:r>
                    </a:p>
                  </a:txBody>
                  <a:tcPr/>
                </a:tc>
                <a:extLst>
                  <a:ext uri="{0D108BD9-81ED-4DB2-BD59-A6C34878D82A}">
                    <a16:rowId xmlns:a16="http://schemas.microsoft.com/office/drawing/2014/main" val="3632964806"/>
                  </a:ext>
                </a:extLst>
              </a:tr>
              <a:tr h="648741">
                <a:tc>
                  <a:txBody>
                    <a:bodyPr/>
                    <a:lstStyle/>
                    <a:p>
                      <a:r>
                        <a:rPr lang="en-US" dirty="0"/>
                        <a:t>LD_PRELOAD env var in system unit Environment=</a:t>
                      </a:r>
                    </a:p>
                  </a:txBody>
                  <a:tcPr/>
                </a:tc>
                <a:tc>
                  <a:txBody>
                    <a:bodyPr/>
                    <a:lstStyle/>
                    <a:p>
                      <a:r>
                        <a:rPr lang="en-US" dirty="0"/>
                        <a:t>Per-service</a:t>
                      </a:r>
                    </a:p>
                  </a:txBody>
                  <a:tcPr/>
                </a:tc>
                <a:extLst>
                  <a:ext uri="{0D108BD9-81ED-4DB2-BD59-A6C34878D82A}">
                    <a16:rowId xmlns:a16="http://schemas.microsoft.com/office/drawing/2014/main" val="2238047416"/>
                  </a:ext>
                </a:extLst>
              </a:tr>
              <a:tr h="648741">
                <a:tc>
                  <a:txBody>
                    <a:bodyPr/>
                    <a:lstStyle/>
                    <a:p>
                      <a:r>
                        <a:rPr lang="en-US" dirty="0" err="1"/>
                        <a:t>Ld.so.conf.d</a:t>
                      </a:r>
                      <a:r>
                        <a:rPr lang="en-US" dirty="0"/>
                        <a:t>/* additions</a:t>
                      </a:r>
                    </a:p>
                  </a:txBody>
                  <a:tcPr/>
                </a:tc>
                <a:tc>
                  <a:txBody>
                    <a:bodyPr/>
                    <a:lstStyle/>
                    <a:p>
                      <a:r>
                        <a:rPr lang="en-US" dirty="0"/>
                        <a:t>Every binary, via library path</a:t>
                      </a:r>
                    </a:p>
                  </a:txBody>
                  <a:tcPr/>
                </a:tc>
                <a:extLst>
                  <a:ext uri="{0D108BD9-81ED-4DB2-BD59-A6C34878D82A}">
                    <a16:rowId xmlns:a16="http://schemas.microsoft.com/office/drawing/2014/main" val="2625179347"/>
                  </a:ext>
                </a:extLst>
              </a:tr>
              <a:tr h="648741">
                <a:tc>
                  <a:txBody>
                    <a:bodyPr/>
                    <a:lstStyle/>
                    <a:p>
                      <a:r>
                        <a:rPr lang="en-US" dirty="0"/>
                        <a:t>/</a:t>
                      </a:r>
                      <a:r>
                        <a:rPr lang="en-US" dirty="0" err="1"/>
                        <a:t>etc</a:t>
                      </a:r>
                      <a:r>
                        <a:rPr lang="en-US" dirty="0"/>
                        <a:t>/environment, </a:t>
                      </a:r>
                      <a:r>
                        <a:rPr lang="en-US" dirty="0" err="1"/>
                        <a:t>pam_env</a:t>
                      </a:r>
                      <a:r>
                        <a:rPr lang="en-US" dirty="0"/>
                        <a:t>, .</a:t>
                      </a:r>
                      <a:r>
                        <a:rPr lang="en-US" dirty="0" err="1"/>
                        <a:t>bashrc</a:t>
                      </a:r>
                      <a:endParaRPr lang="en-US" dirty="0"/>
                    </a:p>
                  </a:txBody>
                  <a:tcPr/>
                </a:tc>
                <a:tc>
                  <a:txBody>
                    <a:bodyPr/>
                    <a:lstStyle/>
                    <a:p>
                      <a:r>
                        <a:rPr lang="en-US" dirty="0"/>
                        <a:t>Per-login session</a:t>
                      </a:r>
                    </a:p>
                  </a:txBody>
                  <a:tcPr/>
                </a:tc>
                <a:extLst>
                  <a:ext uri="{0D108BD9-81ED-4DB2-BD59-A6C34878D82A}">
                    <a16:rowId xmlns:a16="http://schemas.microsoft.com/office/drawing/2014/main" val="269202910"/>
                  </a:ext>
                </a:extLst>
              </a:tr>
            </a:tbl>
          </a:graphicData>
        </a:graphic>
      </p:graphicFrame>
    </p:spTree>
    <p:extLst>
      <p:ext uri="{BB962C8B-B14F-4D97-AF65-F5344CB8AC3E}">
        <p14:creationId xmlns:p14="http://schemas.microsoft.com/office/powerpoint/2010/main" val="1464086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8A431-589D-4E6A-8B7A-7771D19101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F42439-1224-6E57-9533-6C4C72062A78}"/>
              </a:ext>
            </a:extLst>
          </p:cNvPr>
          <p:cNvSpPr>
            <a:spLocks noGrp="1"/>
          </p:cNvSpPr>
          <p:nvPr>
            <p:ph type="title"/>
          </p:nvPr>
        </p:nvSpPr>
        <p:spPr/>
        <p:txBody>
          <a:bodyPr>
            <a:normAutofit/>
          </a:bodyPr>
          <a:lstStyle/>
          <a:p>
            <a:r>
              <a:rPr lang="en-US" sz="4400" dirty="0" err="1">
                <a:latin typeface="Georgia" panose="02040502050405020303" pitchFamily="18" charset="0"/>
              </a:rPr>
              <a:t>Ld_preload</a:t>
            </a:r>
            <a:r>
              <a:rPr lang="en-US" sz="4400" dirty="0">
                <a:latin typeface="Georgia" panose="02040502050405020303" pitchFamily="18" charset="0"/>
              </a:rPr>
              <a:t> Exploitation</a:t>
            </a:r>
          </a:p>
        </p:txBody>
      </p:sp>
      <p:sp>
        <p:nvSpPr>
          <p:cNvPr id="3" name="Content Placeholder 2">
            <a:extLst>
              <a:ext uri="{FF2B5EF4-FFF2-40B4-BE49-F238E27FC236}">
                <a16:creationId xmlns:a16="http://schemas.microsoft.com/office/drawing/2014/main" id="{26566C3E-6422-3D4F-0381-18A07760A6A2}"/>
              </a:ext>
            </a:extLst>
          </p:cNvPr>
          <p:cNvSpPr>
            <a:spLocks noGrp="1"/>
          </p:cNvSpPr>
          <p:nvPr>
            <p:ph idx="1"/>
          </p:nvPr>
        </p:nvSpPr>
        <p:spPr/>
        <p:txBody>
          <a:bodyPr anchor="t" anchorCtr="0">
            <a:normAutofit/>
          </a:bodyPr>
          <a:lstStyle/>
          <a:p>
            <a:r>
              <a:rPr lang="en-US" sz="2000" dirty="0">
                <a:latin typeface="Helvetica Light"/>
              </a:rPr>
              <a:t>What gets hooked:</a:t>
            </a:r>
          </a:p>
          <a:p>
            <a:pPr lvl="1"/>
            <a:r>
              <a:rPr lang="en-US" sz="1800" dirty="0" err="1">
                <a:latin typeface="Helvetica Light"/>
              </a:rPr>
              <a:t>readdir</a:t>
            </a:r>
            <a:r>
              <a:rPr lang="en-US" sz="1800" dirty="0">
                <a:latin typeface="Helvetica Light"/>
              </a:rPr>
              <a:t>()</a:t>
            </a:r>
          </a:p>
          <a:p>
            <a:pPr lvl="1"/>
            <a:r>
              <a:rPr lang="en-US" sz="1800" dirty="0">
                <a:latin typeface="Helvetica Light"/>
              </a:rPr>
              <a:t>readdir64()</a:t>
            </a:r>
          </a:p>
          <a:p>
            <a:endParaRPr lang="en-US" sz="2000" dirty="0">
              <a:latin typeface="Helvetica Light"/>
            </a:endParaRPr>
          </a:p>
          <a:p>
            <a:r>
              <a:rPr lang="en-US" sz="2000" dirty="0">
                <a:latin typeface="Helvetica Light"/>
              </a:rPr>
              <a:t>Establishing persistence:</a:t>
            </a:r>
          </a:p>
          <a:p>
            <a:pPr lvl="1"/>
            <a:r>
              <a:rPr lang="en-US" sz="1800" dirty="0">
                <a:latin typeface="Helvetica Light"/>
              </a:rPr>
              <a:t>echo /usr/local/lib/libprocesshider.so &gt; /</a:t>
            </a:r>
            <a:r>
              <a:rPr lang="en-US" sz="1800" dirty="0" err="1">
                <a:latin typeface="Helvetica Light"/>
              </a:rPr>
              <a:t>etc</a:t>
            </a:r>
            <a:r>
              <a:rPr lang="en-US" sz="1800" dirty="0">
                <a:latin typeface="Helvetica Light"/>
              </a:rPr>
              <a:t>/</a:t>
            </a:r>
            <a:r>
              <a:rPr lang="en-US" sz="1800" dirty="0" err="1">
                <a:latin typeface="Helvetica Light"/>
              </a:rPr>
              <a:t>ld.so.preload</a:t>
            </a:r>
            <a:endParaRPr lang="en-US" sz="1800" dirty="0">
              <a:latin typeface="Helvetica Light"/>
            </a:endParaRPr>
          </a:p>
        </p:txBody>
      </p:sp>
    </p:spTree>
    <p:extLst>
      <p:ext uri="{BB962C8B-B14F-4D97-AF65-F5344CB8AC3E}">
        <p14:creationId xmlns:p14="http://schemas.microsoft.com/office/powerpoint/2010/main" val="2815145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B322-AECD-6A9A-4B53-43E2B2F42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61728-E584-FD57-EA8A-7069DFF92A94}"/>
              </a:ext>
            </a:extLst>
          </p:cNvPr>
          <p:cNvSpPr>
            <a:spLocks noGrp="1"/>
          </p:cNvSpPr>
          <p:nvPr>
            <p:ph type="title"/>
          </p:nvPr>
        </p:nvSpPr>
        <p:spPr/>
        <p:txBody>
          <a:bodyPr>
            <a:normAutofit/>
          </a:bodyPr>
          <a:lstStyle/>
          <a:p>
            <a:r>
              <a:rPr lang="en-US" sz="4400" dirty="0" err="1">
                <a:latin typeface="Georgia" panose="02040502050405020303" pitchFamily="18" charset="0"/>
              </a:rPr>
              <a:t>Ld_preload</a:t>
            </a:r>
            <a:r>
              <a:rPr lang="en-US" sz="4400" dirty="0">
                <a:latin typeface="Georgia" panose="02040502050405020303" pitchFamily="18" charset="0"/>
              </a:rPr>
              <a:t> demo (1)</a:t>
            </a:r>
          </a:p>
        </p:txBody>
      </p:sp>
      <p:sp>
        <p:nvSpPr>
          <p:cNvPr id="3" name="Content Placeholder 2">
            <a:extLst>
              <a:ext uri="{FF2B5EF4-FFF2-40B4-BE49-F238E27FC236}">
                <a16:creationId xmlns:a16="http://schemas.microsoft.com/office/drawing/2014/main" id="{1ACE45B5-A035-DB9E-2479-7BC185B17C80}"/>
              </a:ext>
            </a:extLst>
          </p:cNvPr>
          <p:cNvSpPr>
            <a:spLocks noGrp="1"/>
          </p:cNvSpPr>
          <p:nvPr>
            <p:ph idx="1"/>
          </p:nvPr>
        </p:nvSpPr>
        <p:spPr/>
        <p:txBody>
          <a:bodyPr anchor="t">
            <a:normAutofit/>
          </a:bodyPr>
          <a:lstStyle/>
          <a:p>
            <a:r>
              <a:rPr lang="en-US" sz="2000" dirty="0">
                <a:latin typeface="Helvetica Light"/>
              </a:rPr>
              <a:t>I put three files in /opt/</a:t>
            </a:r>
            <a:r>
              <a:rPr lang="en-US" sz="2000" dirty="0" err="1">
                <a:latin typeface="Helvetica Light"/>
              </a:rPr>
              <a:t>bsides</a:t>
            </a:r>
            <a:endParaRPr lang="en-US" sz="2000" dirty="0">
              <a:latin typeface="Helvetica Light"/>
            </a:endParaRPr>
          </a:p>
          <a:p>
            <a:r>
              <a:rPr lang="en-US" sz="2000" dirty="0">
                <a:latin typeface="Helvetica Light"/>
              </a:rPr>
              <a:t>Searching /opt/</a:t>
            </a:r>
            <a:r>
              <a:rPr lang="en-US" sz="2000" dirty="0" err="1">
                <a:latin typeface="Helvetica Light"/>
              </a:rPr>
              <a:t>bsides</a:t>
            </a:r>
            <a:r>
              <a:rPr lang="en-US" sz="2000" dirty="0">
                <a:latin typeface="Helvetica Light"/>
              </a:rPr>
              <a:t> with ls –la shows two files</a:t>
            </a:r>
          </a:p>
          <a:p>
            <a:endParaRPr lang="en-US" sz="2000" dirty="0">
              <a:latin typeface="Helvetica Light"/>
            </a:endParaRPr>
          </a:p>
          <a:p>
            <a:endParaRPr lang="en-US" sz="2000" dirty="0">
              <a:latin typeface="Helvetica Light"/>
            </a:endParaRPr>
          </a:p>
          <a:p>
            <a:pPr marL="0" indent="0">
              <a:buNone/>
            </a:pPr>
            <a:endParaRPr lang="en-US" sz="2000" dirty="0">
              <a:latin typeface="Helvetica Light"/>
            </a:endParaRPr>
          </a:p>
        </p:txBody>
      </p:sp>
      <p:pic>
        <p:nvPicPr>
          <p:cNvPr id="5" name="Picture 4">
            <a:extLst>
              <a:ext uri="{FF2B5EF4-FFF2-40B4-BE49-F238E27FC236}">
                <a16:creationId xmlns:a16="http://schemas.microsoft.com/office/drawing/2014/main" id="{082A9749-8B4A-D6A6-68FB-99C63797B6A5}"/>
              </a:ext>
            </a:extLst>
          </p:cNvPr>
          <p:cNvPicPr>
            <a:picLocks noChangeAspect="1"/>
          </p:cNvPicPr>
          <p:nvPr/>
        </p:nvPicPr>
        <p:blipFill>
          <a:blip r:embed="rId3"/>
          <a:stretch>
            <a:fillRect/>
          </a:stretch>
        </p:blipFill>
        <p:spPr>
          <a:xfrm>
            <a:off x="685801" y="3236299"/>
            <a:ext cx="5401414" cy="1322103"/>
          </a:xfrm>
          <a:prstGeom prst="rect">
            <a:avLst/>
          </a:prstGeom>
        </p:spPr>
      </p:pic>
    </p:spTree>
    <p:extLst>
      <p:ext uri="{BB962C8B-B14F-4D97-AF65-F5344CB8AC3E}">
        <p14:creationId xmlns:p14="http://schemas.microsoft.com/office/powerpoint/2010/main" val="3403130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0F16C-D43A-BEFA-A5C8-626D98151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06EC45-90F2-4107-5C1F-9CCD06E3CD5A}"/>
              </a:ext>
            </a:extLst>
          </p:cNvPr>
          <p:cNvSpPr>
            <a:spLocks noGrp="1"/>
          </p:cNvSpPr>
          <p:nvPr>
            <p:ph type="title"/>
          </p:nvPr>
        </p:nvSpPr>
        <p:spPr/>
        <p:txBody>
          <a:bodyPr>
            <a:normAutofit/>
          </a:bodyPr>
          <a:lstStyle/>
          <a:p>
            <a:r>
              <a:rPr lang="en-US" sz="4400" dirty="0" err="1">
                <a:latin typeface="Georgia" panose="02040502050405020303" pitchFamily="18" charset="0"/>
              </a:rPr>
              <a:t>Ld_preload</a:t>
            </a:r>
            <a:r>
              <a:rPr lang="en-US" sz="4400" dirty="0">
                <a:latin typeface="Georgia" panose="02040502050405020303" pitchFamily="18" charset="0"/>
              </a:rPr>
              <a:t> demo (2)</a:t>
            </a:r>
          </a:p>
        </p:txBody>
      </p:sp>
      <p:sp>
        <p:nvSpPr>
          <p:cNvPr id="3" name="Content Placeholder 2">
            <a:extLst>
              <a:ext uri="{FF2B5EF4-FFF2-40B4-BE49-F238E27FC236}">
                <a16:creationId xmlns:a16="http://schemas.microsoft.com/office/drawing/2014/main" id="{D05FB7E7-57FF-1F76-8600-764C779A4C40}"/>
              </a:ext>
            </a:extLst>
          </p:cNvPr>
          <p:cNvSpPr>
            <a:spLocks noGrp="1"/>
          </p:cNvSpPr>
          <p:nvPr>
            <p:ph idx="1"/>
          </p:nvPr>
        </p:nvSpPr>
        <p:spPr/>
        <p:txBody>
          <a:bodyPr anchor="t">
            <a:normAutofit/>
          </a:bodyPr>
          <a:lstStyle/>
          <a:p>
            <a:r>
              <a:rPr lang="en-US" sz="2000" dirty="0">
                <a:latin typeface="Helvetica Light"/>
              </a:rPr>
              <a:t>Using a statically linked binary like </a:t>
            </a:r>
            <a:r>
              <a:rPr lang="en-US" sz="2000" dirty="0" err="1">
                <a:latin typeface="Helvetica Light"/>
              </a:rPr>
              <a:t>busybox</a:t>
            </a:r>
            <a:endParaRPr lang="en-US" sz="2000" dirty="0">
              <a:latin typeface="Helvetica Light"/>
            </a:endParaRPr>
          </a:p>
          <a:p>
            <a:r>
              <a:rPr lang="en-US" sz="2000" dirty="0">
                <a:latin typeface="Helvetica Light"/>
              </a:rPr>
              <a:t>We can reveal our marker file</a:t>
            </a:r>
          </a:p>
        </p:txBody>
      </p:sp>
      <p:pic>
        <p:nvPicPr>
          <p:cNvPr id="7" name="Picture 6">
            <a:extLst>
              <a:ext uri="{FF2B5EF4-FFF2-40B4-BE49-F238E27FC236}">
                <a16:creationId xmlns:a16="http://schemas.microsoft.com/office/drawing/2014/main" id="{DCD1DABD-B8A5-AC95-B18B-DE37D0E91CF9}"/>
              </a:ext>
            </a:extLst>
          </p:cNvPr>
          <p:cNvPicPr>
            <a:picLocks noChangeAspect="1"/>
          </p:cNvPicPr>
          <p:nvPr/>
        </p:nvPicPr>
        <p:blipFill>
          <a:blip r:embed="rId3"/>
          <a:stretch>
            <a:fillRect/>
          </a:stretch>
        </p:blipFill>
        <p:spPr>
          <a:xfrm>
            <a:off x="685801" y="3156038"/>
            <a:ext cx="6175857" cy="1641284"/>
          </a:xfrm>
          <a:prstGeom prst="rect">
            <a:avLst/>
          </a:prstGeom>
        </p:spPr>
      </p:pic>
    </p:spTree>
    <p:extLst>
      <p:ext uri="{BB962C8B-B14F-4D97-AF65-F5344CB8AC3E}">
        <p14:creationId xmlns:p14="http://schemas.microsoft.com/office/powerpoint/2010/main" val="3917741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0395C-54AF-B8E8-41D1-A3C0D6BC4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3C6F23-92A9-CBC2-62D9-3C8755005E98}"/>
              </a:ext>
            </a:extLst>
          </p:cNvPr>
          <p:cNvSpPr>
            <a:spLocks noGrp="1"/>
          </p:cNvSpPr>
          <p:nvPr>
            <p:ph type="title"/>
          </p:nvPr>
        </p:nvSpPr>
        <p:spPr/>
        <p:txBody>
          <a:bodyPr>
            <a:normAutofit/>
          </a:bodyPr>
          <a:lstStyle/>
          <a:p>
            <a:r>
              <a:rPr lang="en-US" sz="4400" dirty="0" err="1">
                <a:latin typeface="Georgia" panose="02040502050405020303" pitchFamily="18" charset="0"/>
              </a:rPr>
              <a:t>Ld_preload</a:t>
            </a:r>
            <a:r>
              <a:rPr lang="en-US" sz="4400" dirty="0">
                <a:latin typeface="Georgia" panose="02040502050405020303" pitchFamily="18" charset="0"/>
              </a:rPr>
              <a:t> demo (3)</a:t>
            </a:r>
          </a:p>
        </p:txBody>
      </p:sp>
      <p:sp>
        <p:nvSpPr>
          <p:cNvPr id="3" name="Content Placeholder 2">
            <a:extLst>
              <a:ext uri="{FF2B5EF4-FFF2-40B4-BE49-F238E27FC236}">
                <a16:creationId xmlns:a16="http://schemas.microsoft.com/office/drawing/2014/main" id="{D9F83DD0-D6D4-2748-2D02-AFB7A650C14B}"/>
              </a:ext>
            </a:extLst>
          </p:cNvPr>
          <p:cNvSpPr>
            <a:spLocks noGrp="1"/>
          </p:cNvSpPr>
          <p:nvPr>
            <p:ph idx="1"/>
          </p:nvPr>
        </p:nvSpPr>
        <p:spPr/>
        <p:txBody>
          <a:bodyPr anchor="t">
            <a:normAutofit/>
          </a:bodyPr>
          <a:lstStyle/>
          <a:p>
            <a:r>
              <a:rPr lang="en-US" sz="2000" dirty="0">
                <a:latin typeface="Helvetica Light"/>
              </a:rPr>
              <a:t>Let’s check for </a:t>
            </a:r>
            <a:r>
              <a:rPr lang="en-US" sz="2000" dirty="0" err="1">
                <a:latin typeface="Helvetica Light"/>
              </a:rPr>
              <a:t>ld.so.preload</a:t>
            </a:r>
            <a:endParaRPr lang="en-US" sz="2000" dirty="0">
              <a:latin typeface="Helvetica Light"/>
            </a:endParaRPr>
          </a:p>
          <a:p>
            <a:endParaRPr lang="en-US" sz="2000" dirty="0">
              <a:latin typeface="Helvetica Light"/>
            </a:endParaRPr>
          </a:p>
          <a:p>
            <a:endParaRPr lang="en-US" sz="2000" dirty="0">
              <a:latin typeface="Helvetica Light"/>
            </a:endParaRPr>
          </a:p>
          <a:p>
            <a:pPr marL="0" indent="0">
              <a:buNone/>
            </a:pPr>
            <a:endParaRPr lang="en-US" sz="2000" dirty="0">
              <a:latin typeface="Helvetica Light"/>
            </a:endParaRPr>
          </a:p>
          <a:p>
            <a:endParaRPr lang="en-US" sz="2000" dirty="0">
              <a:latin typeface="Helvetica Light"/>
            </a:endParaRPr>
          </a:p>
        </p:txBody>
      </p:sp>
      <p:pic>
        <p:nvPicPr>
          <p:cNvPr id="6" name="Picture 5">
            <a:extLst>
              <a:ext uri="{FF2B5EF4-FFF2-40B4-BE49-F238E27FC236}">
                <a16:creationId xmlns:a16="http://schemas.microsoft.com/office/drawing/2014/main" id="{85977DDD-BA50-F665-5939-6B327A3062CE}"/>
              </a:ext>
            </a:extLst>
          </p:cNvPr>
          <p:cNvPicPr>
            <a:picLocks noChangeAspect="1"/>
          </p:cNvPicPr>
          <p:nvPr/>
        </p:nvPicPr>
        <p:blipFill>
          <a:blip r:embed="rId3"/>
          <a:stretch>
            <a:fillRect/>
          </a:stretch>
        </p:blipFill>
        <p:spPr>
          <a:xfrm>
            <a:off x="685800" y="2692967"/>
            <a:ext cx="10131425" cy="1080499"/>
          </a:xfrm>
          <a:prstGeom prst="rect">
            <a:avLst/>
          </a:prstGeom>
        </p:spPr>
      </p:pic>
    </p:spTree>
    <p:extLst>
      <p:ext uri="{BB962C8B-B14F-4D97-AF65-F5344CB8AC3E}">
        <p14:creationId xmlns:p14="http://schemas.microsoft.com/office/powerpoint/2010/main" val="235368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B35AA-9F0E-44B4-244C-6AED876CE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E87E11-96DE-2DC7-6376-7F9F45C490EC}"/>
              </a:ext>
            </a:extLst>
          </p:cNvPr>
          <p:cNvSpPr>
            <a:spLocks noGrp="1"/>
          </p:cNvSpPr>
          <p:nvPr>
            <p:ph type="title"/>
          </p:nvPr>
        </p:nvSpPr>
        <p:spPr/>
        <p:txBody>
          <a:bodyPr>
            <a:normAutofit/>
          </a:bodyPr>
          <a:lstStyle/>
          <a:p>
            <a:r>
              <a:rPr lang="en-US" sz="4400" dirty="0" err="1">
                <a:latin typeface="Georgia" panose="02040502050405020303" pitchFamily="18" charset="0"/>
              </a:rPr>
              <a:t>Ld_preload</a:t>
            </a:r>
            <a:r>
              <a:rPr lang="en-US" sz="4400" dirty="0">
                <a:latin typeface="Georgia" panose="02040502050405020303" pitchFamily="18" charset="0"/>
              </a:rPr>
              <a:t> demo (4)</a:t>
            </a:r>
          </a:p>
        </p:txBody>
      </p:sp>
      <p:sp>
        <p:nvSpPr>
          <p:cNvPr id="3" name="Content Placeholder 2">
            <a:extLst>
              <a:ext uri="{FF2B5EF4-FFF2-40B4-BE49-F238E27FC236}">
                <a16:creationId xmlns:a16="http://schemas.microsoft.com/office/drawing/2014/main" id="{3D351195-AF38-7834-BAD0-8A55B143EEF6}"/>
              </a:ext>
            </a:extLst>
          </p:cNvPr>
          <p:cNvSpPr>
            <a:spLocks noGrp="1"/>
          </p:cNvSpPr>
          <p:nvPr>
            <p:ph idx="1"/>
          </p:nvPr>
        </p:nvSpPr>
        <p:spPr/>
        <p:txBody>
          <a:bodyPr anchor="t">
            <a:normAutofit/>
          </a:bodyPr>
          <a:lstStyle/>
          <a:p>
            <a:r>
              <a:rPr lang="en-US" sz="2000" dirty="0">
                <a:latin typeface="Helvetica Light"/>
              </a:rPr>
              <a:t>Let’s try run </a:t>
            </a:r>
            <a:r>
              <a:rPr lang="en-US" sz="2000" dirty="0" err="1">
                <a:latin typeface="Helvetica Light"/>
              </a:rPr>
              <a:t>Busybox</a:t>
            </a:r>
            <a:r>
              <a:rPr lang="en-US" sz="2000" dirty="0">
                <a:latin typeface="Helvetica Light"/>
              </a:rPr>
              <a:t> over the directory.</a:t>
            </a:r>
          </a:p>
          <a:p>
            <a:endParaRPr lang="en-US" sz="2000" dirty="0">
              <a:latin typeface="Helvetica Light"/>
            </a:endParaRPr>
          </a:p>
          <a:p>
            <a:endParaRPr lang="en-US" sz="2000" dirty="0">
              <a:latin typeface="Helvetica Light"/>
            </a:endParaRPr>
          </a:p>
          <a:p>
            <a:endParaRPr lang="en-US" sz="2000" dirty="0">
              <a:latin typeface="Helvetica Light"/>
            </a:endParaRPr>
          </a:p>
          <a:p>
            <a:endParaRPr lang="en-US" sz="2000" dirty="0">
              <a:latin typeface="Helvetica Light"/>
            </a:endParaRPr>
          </a:p>
          <a:p>
            <a:r>
              <a:rPr lang="en-US" sz="2000" dirty="0">
                <a:latin typeface="Helvetica Light"/>
              </a:rPr>
              <a:t>Let’s run cat over the file and see what happens.</a:t>
            </a:r>
          </a:p>
        </p:txBody>
      </p:sp>
      <p:pic>
        <p:nvPicPr>
          <p:cNvPr id="9" name="Picture 8">
            <a:extLst>
              <a:ext uri="{FF2B5EF4-FFF2-40B4-BE49-F238E27FC236}">
                <a16:creationId xmlns:a16="http://schemas.microsoft.com/office/drawing/2014/main" id="{EE2A025F-E05B-4829-EF0C-7837A4D20B3D}"/>
              </a:ext>
            </a:extLst>
          </p:cNvPr>
          <p:cNvPicPr>
            <a:picLocks noChangeAspect="1"/>
          </p:cNvPicPr>
          <p:nvPr/>
        </p:nvPicPr>
        <p:blipFill>
          <a:blip r:embed="rId3"/>
          <a:stretch>
            <a:fillRect/>
          </a:stretch>
        </p:blipFill>
        <p:spPr>
          <a:xfrm>
            <a:off x="685800" y="2597650"/>
            <a:ext cx="9226295" cy="1397924"/>
          </a:xfrm>
          <a:prstGeom prst="rect">
            <a:avLst/>
          </a:prstGeom>
        </p:spPr>
      </p:pic>
      <p:pic>
        <p:nvPicPr>
          <p:cNvPr id="11" name="Picture 10">
            <a:extLst>
              <a:ext uri="{FF2B5EF4-FFF2-40B4-BE49-F238E27FC236}">
                <a16:creationId xmlns:a16="http://schemas.microsoft.com/office/drawing/2014/main" id="{2D9AECBE-1640-C28E-E78D-7D9F018D3335}"/>
              </a:ext>
            </a:extLst>
          </p:cNvPr>
          <p:cNvPicPr>
            <a:picLocks noChangeAspect="1"/>
          </p:cNvPicPr>
          <p:nvPr/>
        </p:nvPicPr>
        <p:blipFill>
          <a:blip r:embed="rId4"/>
          <a:stretch>
            <a:fillRect/>
          </a:stretch>
        </p:blipFill>
        <p:spPr>
          <a:xfrm>
            <a:off x="685799" y="4792133"/>
            <a:ext cx="9226295" cy="698405"/>
          </a:xfrm>
          <a:prstGeom prst="rect">
            <a:avLst/>
          </a:prstGeom>
        </p:spPr>
      </p:pic>
    </p:spTree>
    <p:extLst>
      <p:ext uri="{BB962C8B-B14F-4D97-AF65-F5344CB8AC3E}">
        <p14:creationId xmlns:p14="http://schemas.microsoft.com/office/powerpoint/2010/main" val="1131073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1E9ED-F3AA-507E-09C2-E3A32CA819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C2827-4C23-B292-B89B-C260E731EB44}"/>
              </a:ext>
            </a:extLst>
          </p:cNvPr>
          <p:cNvSpPr>
            <a:spLocks noGrp="1"/>
          </p:cNvSpPr>
          <p:nvPr>
            <p:ph type="title"/>
          </p:nvPr>
        </p:nvSpPr>
        <p:spPr/>
        <p:txBody>
          <a:bodyPr>
            <a:normAutofit/>
          </a:bodyPr>
          <a:lstStyle/>
          <a:p>
            <a:r>
              <a:rPr lang="en-US" sz="4400" dirty="0" err="1">
                <a:latin typeface="Georgia" panose="02040502050405020303" pitchFamily="18" charset="0"/>
              </a:rPr>
              <a:t>Ld_preload</a:t>
            </a:r>
            <a:r>
              <a:rPr lang="en-US" sz="4400" dirty="0">
                <a:latin typeface="Georgia" panose="02040502050405020303" pitchFamily="18" charset="0"/>
              </a:rPr>
              <a:t> demo (5)</a:t>
            </a:r>
          </a:p>
        </p:txBody>
      </p:sp>
      <p:sp>
        <p:nvSpPr>
          <p:cNvPr id="3" name="Content Placeholder 2">
            <a:extLst>
              <a:ext uri="{FF2B5EF4-FFF2-40B4-BE49-F238E27FC236}">
                <a16:creationId xmlns:a16="http://schemas.microsoft.com/office/drawing/2014/main" id="{D0B7D516-DC52-56AD-D6A4-2B58368230D5}"/>
              </a:ext>
            </a:extLst>
          </p:cNvPr>
          <p:cNvSpPr>
            <a:spLocks noGrp="1"/>
          </p:cNvSpPr>
          <p:nvPr>
            <p:ph idx="1"/>
          </p:nvPr>
        </p:nvSpPr>
        <p:spPr/>
        <p:txBody>
          <a:bodyPr anchor="t">
            <a:normAutofit/>
          </a:bodyPr>
          <a:lstStyle/>
          <a:p>
            <a:r>
              <a:rPr lang="en-US" sz="2000" dirty="0">
                <a:latin typeface="Helvetica Light"/>
              </a:rPr>
              <a:t>What does our hook do?</a:t>
            </a:r>
          </a:p>
          <a:p>
            <a:endParaRPr lang="en-US" sz="2000" dirty="0">
              <a:latin typeface="Helvetica Light"/>
            </a:endParaRPr>
          </a:p>
          <a:p>
            <a:r>
              <a:rPr lang="en-US" sz="2000" dirty="0">
                <a:latin typeface="Helvetica Light"/>
              </a:rPr>
              <a:t>Hides files listed in the array.</a:t>
            </a:r>
          </a:p>
          <a:p>
            <a:endParaRPr lang="en-US" sz="2000" dirty="0">
              <a:latin typeface="Helvetica Light"/>
            </a:endParaRPr>
          </a:p>
          <a:p>
            <a:endParaRPr lang="en-US" sz="2000" dirty="0">
              <a:latin typeface="Helvetica Light"/>
            </a:endParaRPr>
          </a:p>
        </p:txBody>
      </p:sp>
      <p:pic>
        <p:nvPicPr>
          <p:cNvPr id="5" name="Picture 4">
            <a:extLst>
              <a:ext uri="{FF2B5EF4-FFF2-40B4-BE49-F238E27FC236}">
                <a16:creationId xmlns:a16="http://schemas.microsoft.com/office/drawing/2014/main" id="{0C8C5C03-DF9A-767B-ECAE-270DC011C2B0}"/>
              </a:ext>
            </a:extLst>
          </p:cNvPr>
          <p:cNvPicPr>
            <a:picLocks noChangeAspect="1"/>
          </p:cNvPicPr>
          <p:nvPr/>
        </p:nvPicPr>
        <p:blipFill>
          <a:blip r:embed="rId3"/>
          <a:stretch>
            <a:fillRect/>
          </a:stretch>
        </p:blipFill>
        <p:spPr>
          <a:xfrm>
            <a:off x="7419732" y="1677340"/>
            <a:ext cx="4521432" cy="4578585"/>
          </a:xfrm>
          <a:prstGeom prst="rect">
            <a:avLst/>
          </a:prstGeom>
        </p:spPr>
      </p:pic>
    </p:spTree>
    <p:extLst>
      <p:ext uri="{BB962C8B-B14F-4D97-AF65-F5344CB8AC3E}">
        <p14:creationId xmlns:p14="http://schemas.microsoft.com/office/powerpoint/2010/main" val="3462722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B6EF0-18E0-18F1-C993-239F5A5A3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DDBCE-F26A-A048-2395-B60394E46101}"/>
              </a:ext>
            </a:extLst>
          </p:cNvPr>
          <p:cNvSpPr>
            <a:spLocks noGrp="1"/>
          </p:cNvSpPr>
          <p:nvPr>
            <p:ph type="title"/>
          </p:nvPr>
        </p:nvSpPr>
        <p:spPr/>
        <p:txBody>
          <a:bodyPr>
            <a:normAutofit/>
          </a:bodyPr>
          <a:lstStyle/>
          <a:p>
            <a:r>
              <a:rPr lang="en-US" sz="4400" dirty="0" err="1">
                <a:latin typeface="Georgia" panose="02040502050405020303" pitchFamily="18" charset="0"/>
              </a:rPr>
              <a:t>Ld_preload</a:t>
            </a:r>
            <a:r>
              <a:rPr lang="en-US" sz="4400" dirty="0">
                <a:latin typeface="Georgia" panose="02040502050405020303" pitchFamily="18" charset="0"/>
              </a:rPr>
              <a:t> detection (1)</a:t>
            </a:r>
          </a:p>
        </p:txBody>
      </p:sp>
      <p:sp>
        <p:nvSpPr>
          <p:cNvPr id="3" name="Content Placeholder 2">
            <a:extLst>
              <a:ext uri="{FF2B5EF4-FFF2-40B4-BE49-F238E27FC236}">
                <a16:creationId xmlns:a16="http://schemas.microsoft.com/office/drawing/2014/main" id="{E7424853-5E7F-2990-29B3-171464445708}"/>
              </a:ext>
            </a:extLst>
          </p:cNvPr>
          <p:cNvSpPr>
            <a:spLocks noGrp="1"/>
          </p:cNvSpPr>
          <p:nvPr>
            <p:ph idx="1"/>
          </p:nvPr>
        </p:nvSpPr>
        <p:spPr>
          <a:xfrm>
            <a:off x="685802" y="2142067"/>
            <a:ext cx="4996542" cy="4106333"/>
          </a:xfrm>
        </p:spPr>
        <p:txBody>
          <a:bodyPr anchor="t" anchorCtr="0">
            <a:noAutofit/>
          </a:bodyPr>
          <a:lstStyle/>
          <a:p>
            <a:r>
              <a:rPr lang="en-US" sz="2000" dirty="0">
                <a:latin typeface="Helvetica Light"/>
              </a:rPr>
              <a:t>Detection 1 – Check the file itself</a:t>
            </a:r>
          </a:p>
          <a:p>
            <a:r>
              <a:rPr lang="en-US" sz="2000" dirty="0">
                <a:latin typeface="Helvetica Light"/>
              </a:rPr>
              <a:t>ls –la /</a:t>
            </a:r>
            <a:r>
              <a:rPr lang="en-US" sz="2000" dirty="0" err="1">
                <a:latin typeface="Helvetica Light"/>
              </a:rPr>
              <a:t>etc</a:t>
            </a:r>
            <a:r>
              <a:rPr lang="en-US" sz="2000" dirty="0">
                <a:latin typeface="Helvetica Light"/>
              </a:rPr>
              <a:t>/</a:t>
            </a:r>
            <a:r>
              <a:rPr lang="en-US" sz="2000" dirty="0" err="1">
                <a:latin typeface="Helvetica Light"/>
              </a:rPr>
              <a:t>ld.so.preload</a:t>
            </a:r>
            <a:endParaRPr lang="en-US" sz="2000" dirty="0">
              <a:latin typeface="Helvetica Light"/>
            </a:endParaRPr>
          </a:p>
          <a:p>
            <a:r>
              <a:rPr lang="en-US" sz="2000" dirty="0">
                <a:latin typeface="Helvetica Light"/>
              </a:rPr>
              <a:t>stat /</a:t>
            </a:r>
            <a:r>
              <a:rPr lang="en-US" sz="2000" dirty="0" err="1">
                <a:latin typeface="Helvetica Light"/>
              </a:rPr>
              <a:t>etc</a:t>
            </a:r>
            <a:r>
              <a:rPr lang="en-US" sz="2000" dirty="0">
                <a:latin typeface="Helvetica Light"/>
              </a:rPr>
              <a:t>/</a:t>
            </a:r>
            <a:r>
              <a:rPr lang="en-US" sz="2000" dirty="0" err="1">
                <a:latin typeface="Helvetica Light"/>
              </a:rPr>
              <a:t>ld.so.preload</a:t>
            </a:r>
            <a:endParaRPr lang="en-US" sz="2000" dirty="0">
              <a:latin typeface="Helvetica Light"/>
            </a:endParaRPr>
          </a:p>
          <a:p>
            <a:endParaRPr lang="en-US" sz="2000" dirty="0">
              <a:latin typeface="Helvetica Light"/>
            </a:endParaRPr>
          </a:p>
          <a:p>
            <a:r>
              <a:rPr lang="en-US" sz="2000" dirty="0">
                <a:latin typeface="Helvetica Light"/>
              </a:rPr>
              <a:t>Detection 2 – The library is an orphan</a:t>
            </a:r>
          </a:p>
          <a:p>
            <a:r>
              <a:rPr lang="en-US" sz="2000" dirty="0" err="1">
                <a:latin typeface="Helvetica Light"/>
              </a:rPr>
              <a:t>dpkg</a:t>
            </a:r>
            <a:r>
              <a:rPr lang="en-US" sz="2000" dirty="0">
                <a:latin typeface="Helvetica Light"/>
              </a:rPr>
              <a:t> –S /usr/local/lib/libprocesshider.so</a:t>
            </a:r>
          </a:p>
          <a:p>
            <a:endParaRPr lang="en-US" sz="2000" dirty="0">
              <a:latin typeface="Helvetica Light"/>
            </a:endParaRPr>
          </a:p>
          <a:p>
            <a:r>
              <a:rPr lang="en-US" sz="2000" dirty="0">
                <a:latin typeface="Helvetica Light"/>
              </a:rPr>
              <a:t>sleep 300 &amp;</a:t>
            </a:r>
          </a:p>
          <a:p>
            <a:r>
              <a:rPr lang="en-US" sz="2000" dirty="0">
                <a:latin typeface="Helvetica Light"/>
              </a:rPr>
              <a:t>grep </a:t>
            </a:r>
            <a:r>
              <a:rPr lang="en-US" sz="2000" dirty="0" err="1">
                <a:latin typeface="Helvetica Light"/>
              </a:rPr>
              <a:t>libprocesshider</a:t>
            </a:r>
            <a:r>
              <a:rPr lang="en-US" sz="2000" dirty="0">
                <a:latin typeface="Helvetica Light"/>
              </a:rPr>
              <a:t> /proc/&lt;</a:t>
            </a:r>
            <a:r>
              <a:rPr lang="en-US" sz="2000" dirty="0" err="1">
                <a:latin typeface="Helvetica Light"/>
              </a:rPr>
              <a:t>pid</a:t>
            </a:r>
            <a:r>
              <a:rPr lang="en-US" sz="2000" dirty="0">
                <a:latin typeface="Helvetica Light"/>
              </a:rPr>
              <a:t>&gt;/maps</a:t>
            </a:r>
          </a:p>
        </p:txBody>
      </p:sp>
      <p:pic>
        <p:nvPicPr>
          <p:cNvPr id="6" name="Picture 5">
            <a:extLst>
              <a:ext uri="{FF2B5EF4-FFF2-40B4-BE49-F238E27FC236}">
                <a16:creationId xmlns:a16="http://schemas.microsoft.com/office/drawing/2014/main" id="{AC5577EC-84F5-5339-0999-617552A6429A}"/>
              </a:ext>
            </a:extLst>
          </p:cNvPr>
          <p:cNvPicPr>
            <a:picLocks noChangeAspect="1"/>
          </p:cNvPicPr>
          <p:nvPr/>
        </p:nvPicPr>
        <p:blipFill>
          <a:blip r:embed="rId3"/>
          <a:stretch>
            <a:fillRect/>
          </a:stretch>
        </p:blipFill>
        <p:spPr>
          <a:xfrm>
            <a:off x="5506992" y="2142066"/>
            <a:ext cx="6613388" cy="1827821"/>
          </a:xfrm>
          <a:prstGeom prst="rect">
            <a:avLst/>
          </a:prstGeom>
        </p:spPr>
      </p:pic>
      <p:pic>
        <p:nvPicPr>
          <p:cNvPr id="8" name="Picture 7">
            <a:extLst>
              <a:ext uri="{FF2B5EF4-FFF2-40B4-BE49-F238E27FC236}">
                <a16:creationId xmlns:a16="http://schemas.microsoft.com/office/drawing/2014/main" id="{20FF2399-DE04-D00A-35F3-FDE5355BCAA6}"/>
              </a:ext>
            </a:extLst>
          </p:cNvPr>
          <p:cNvPicPr>
            <a:picLocks noChangeAspect="1"/>
          </p:cNvPicPr>
          <p:nvPr/>
        </p:nvPicPr>
        <p:blipFill>
          <a:blip r:embed="rId4"/>
          <a:stretch>
            <a:fillRect/>
          </a:stretch>
        </p:blipFill>
        <p:spPr>
          <a:xfrm>
            <a:off x="5506992" y="4572232"/>
            <a:ext cx="6613388" cy="1404003"/>
          </a:xfrm>
          <a:prstGeom prst="rect">
            <a:avLst/>
          </a:prstGeom>
        </p:spPr>
      </p:pic>
    </p:spTree>
    <p:extLst>
      <p:ext uri="{BB962C8B-B14F-4D97-AF65-F5344CB8AC3E}">
        <p14:creationId xmlns:p14="http://schemas.microsoft.com/office/powerpoint/2010/main" val="26092214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FC814-99DC-BACF-5535-8931F16D9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8EC5D-B560-F822-98D3-84CD3F27A08B}"/>
              </a:ext>
            </a:extLst>
          </p:cNvPr>
          <p:cNvSpPr>
            <a:spLocks noGrp="1"/>
          </p:cNvSpPr>
          <p:nvPr>
            <p:ph type="title"/>
          </p:nvPr>
        </p:nvSpPr>
        <p:spPr/>
        <p:txBody>
          <a:bodyPr>
            <a:normAutofit/>
          </a:bodyPr>
          <a:lstStyle/>
          <a:p>
            <a:r>
              <a:rPr lang="en-US" sz="4400" dirty="0" err="1">
                <a:latin typeface="Georgia" panose="02040502050405020303" pitchFamily="18" charset="0"/>
              </a:rPr>
              <a:t>Ld_preload</a:t>
            </a:r>
            <a:r>
              <a:rPr lang="en-US" sz="4400" dirty="0">
                <a:latin typeface="Georgia" panose="02040502050405020303" pitchFamily="18" charset="0"/>
              </a:rPr>
              <a:t> detection (2)</a:t>
            </a:r>
          </a:p>
        </p:txBody>
      </p:sp>
      <p:sp>
        <p:nvSpPr>
          <p:cNvPr id="4" name="Content Placeholder 2">
            <a:extLst>
              <a:ext uri="{FF2B5EF4-FFF2-40B4-BE49-F238E27FC236}">
                <a16:creationId xmlns:a16="http://schemas.microsoft.com/office/drawing/2014/main" id="{C1D37FFF-025E-5836-FF35-39E9DF5A6440}"/>
              </a:ext>
            </a:extLst>
          </p:cNvPr>
          <p:cNvSpPr txBox="1">
            <a:spLocks/>
          </p:cNvSpPr>
          <p:nvPr/>
        </p:nvSpPr>
        <p:spPr>
          <a:xfrm>
            <a:off x="5811423" y="2142066"/>
            <a:ext cx="10131425" cy="3649133"/>
          </a:xfrm>
          <a:prstGeom prst="rect">
            <a:avLst/>
          </a:prstGeom>
        </p:spPr>
        <p:txBody>
          <a:bodyPr vert="horz" lIns="91440" tIns="45720" rIns="91440" bIns="45720" rtlCol="0" anchor="t" anchorCtr="0">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endParaRPr lang="en-US" sz="2000" dirty="0">
              <a:latin typeface="Helvetica Light"/>
            </a:endParaRPr>
          </a:p>
        </p:txBody>
      </p:sp>
      <p:sp>
        <p:nvSpPr>
          <p:cNvPr id="6" name="Content Placeholder 5">
            <a:extLst>
              <a:ext uri="{FF2B5EF4-FFF2-40B4-BE49-F238E27FC236}">
                <a16:creationId xmlns:a16="http://schemas.microsoft.com/office/drawing/2014/main" id="{04B98D7D-07E1-DDA4-CE45-2323FD68BDEF}"/>
              </a:ext>
            </a:extLst>
          </p:cNvPr>
          <p:cNvSpPr>
            <a:spLocks noGrp="1"/>
          </p:cNvSpPr>
          <p:nvPr>
            <p:ph idx="1"/>
          </p:nvPr>
        </p:nvSpPr>
        <p:spPr>
          <a:xfrm>
            <a:off x="685801" y="2142067"/>
            <a:ext cx="10131425" cy="4715933"/>
          </a:xfrm>
        </p:spPr>
        <p:txBody>
          <a:bodyPr>
            <a:normAutofit/>
          </a:bodyPr>
          <a:lstStyle/>
          <a:p>
            <a:r>
              <a:rPr lang="en-US" dirty="0">
                <a:latin typeface="Helvetica Light"/>
              </a:rPr>
              <a:t>Detection 3 – Environment and memory mappings</a:t>
            </a:r>
          </a:p>
          <a:p>
            <a:pPr lvl="1"/>
            <a:r>
              <a:rPr lang="en-US" dirty="0">
                <a:latin typeface="Helvetica Light"/>
              </a:rPr>
              <a:t>cat /proc/&lt;</a:t>
            </a:r>
            <a:r>
              <a:rPr lang="en-US" dirty="0" err="1">
                <a:latin typeface="Helvetica Light"/>
              </a:rPr>
              <a:t>pid</a:t>
            </a:r>
            <a:r>
              <a:rPr lang="en-US" dirty="0">
                <a:latin typeface="Helvetica Light"/>
              </a:rPr>
              <a:t>&gt;/environ | tr ‘\0’ ‘\n’ | grep LD_PRELOAD</a:t>
            </a:r>
          </a:p>
          <a:p>
            <a:pPr lvl="1"/>
            <a:r>
              <a:rPr lang="en-US" dirty="0">
                <a:latin typeface="Helvetica Light"/>
              </a:rPr>
              <a:t>cat /proc/&lt;</a:t>
            </a:r>
            <a:r>
              <a:rPr lang="en-US" dirty="0" err="1">
                <a:latin typeface="Helvetica Light"/>
              </a:rPr>
              <a:t>pid</a:t>
            </a:r>
            <a:r>
              <a:rPr lang="en-US" dirty="0">
                <a:latin typeface="Helvetica Light"/>
              </a:rPr>
              <a:t>&gt;/maps | grep –v ‘\.so$’</a:t>
            </a:r>
          </a:p>
          <a:p>
            <a:endParaRPr lang="en-US" dirty="0">
              <a:latin typeface="Helvetica Light"/>
            </a:endParaRPr>
          </a:p>
          <a:p>
            <a:r>
              <a:rPr lang="en-US" dirty="0">
                <a:latin typeface="Helvetica Light"/>
              </a:rPr>
              <a:t>Detection 4 - </a:t>
            </a:r>
            <a:r>
              <a:rPr lang="en-US" dirty="0" err="1">
                <a:latin typeface="Helvetica Light"/>
              </a:rPr>
              <a:t>Auditd</a:t>
            </a:r>
            <a:endParaRPr lang="en-US" dirty="0">
              <a:latin typeface="Helvetica Light"/>
            </a:endParaRPr>
          </a:p>
          <a:p>
            <a:pPr lvl="1"/>
            <a:r>
              <a:rPr lang="en-US" dirty="0" err="1">
                <a:latin typeface="Helvetica Light"/>
              </a:rPr>
              <a:t>auditctl</a:t>
            </a:r>
            <a:r>
              <a:rPr lang="en-US" dirty="0">
                <a:latin typeface="Helvetica Light"/>
              </a:rPr>
              <a:t> –w /</a:t>
            </a:r>
            <a:r>
              <a:rPr lang="en-US" dirty="0" err="1">
                <a:latin typeface="Helvetica Light"/>
              </a:rPr>
              <a:t>etc</a:t>
            </a:r>
            <a:r>
              <a:rPr lang="en-US" dirty="0">
                <a:latin typeface="Helvetica Light"/>
              </a:rPr>
              <a:t>/</a:t>
            </a:r>
            <a:r>
              <a:rPr lang="en-US" dirty="0" err="1">
                <a:latin typeface="Helvetica Light"/>
              </a:rPr>
              <a:t>ld.so.preload</a:t>
            </a:r>
            <a:r>
              <a:rPr lang="en-US" dirty="0">
                <a:latin typeface="Helvetica Light"/>
              </a:rPr>
              <a:t> –p </a:t>
            </a:r>
            <a:r>
              <a:rPr lang="en-US" dirty="0" err="1">
                <a:latin typeface="Helvetica Light"/>
              </a:rPr>
              <a:t>wa</a:t>
            </a:r>
            <a:r>
              <a:rPr lang="en-US" dirty="0">
                <a:latin typeface="Helvetica Light"/>
              </a:rPr>
              <a:t> –k </a:t>
            </a:r>
            <a:r>
              <a:rPr lang="en-US" dirty="0" err="1">
                <a:latin typeface="Helvetica Light"/>
              </a:rPr>
              <a:t>ldpreload</a:t>
            </a:r>
            <a:endParaRPr lang="en-US" dirty="0">
              <a:latin typeface="Helvetica Light"/>
            </a:endParaRPr>
          </a:p>
          <a:p>
            <a:pPr lvl="1"/>
            <a:r>
              <a:rPr lang="en-US" dirty="0" err="1">
                <a:latin typeface="Helvetica Light"/>
              </a:rPr>
              <a:t>ausearch</a:t>
            </a:r>
            <a:r>
              <a:rPr lang="en-US" dirty="0">
                <a:latin typeface="Helvetica Light"/>
              </a:rPr>
              <a:t> –k </a:t>
            </a:r>
            <a:r>
              <a:rPr lang="en-US" dirty="0" err="1">
                <a:latin typeface="Helvetica Light"/>
              </a:rPr>
              <a:t>ldpreload</a:t>
            </a:r>
            <a:r>
              <a:rPr lang="en-US" dirty="0">
                <a:latin typeface="Helvetica Light"/>
              </a:rPr>
              <a:t> –I | tail</a:t>
            </a:r>
          </a:p>
          <a:p>
            <a:endParaRPr lang="en-US" dirty="0">
              <a:latin typeface="Helvetica Light"/>
            </a:endParaRPr>
          </a:p>
          <a:p>
            <a:r>
              <a:rPr lang="en-US" dirty="0">
                <a:latin typeface="Helvetica Light"/>
              </a:rPr>
              <a:t>Detection 5 – OS Query</a:t>
            </a:r>
          </a:p>
          <a:p>
            <a:pPr lvl="1"/>
            <a:r>
              <a:rPr lang="en-US" dirty="0"/>
              <a:t>SELECT path, directory, filename, </a:t>
            </a:r>
            <a:r>
              <a:rPr lang="en-US" dirty="0" err="1"/>
              <a:t>mtime</a:t>
            </a:r>
            <a:r>
              <a:rPr lang="en-US" dirty="0"/>
              <a:t>, </a:t>
            </a:r>
            <a:r>
              <a:rPr lang="en-US" dirty="0" err="1"/>
              <a:t>ctime</a:t>
            </a:r>
            <a:r>
              <a:rPr lang="en-US" dirty="0"/>
              <a:t>, </a:t>
            </a:r>
            <a:r>
              <a:rPr lang="en-US" dirty="0" err="1"/>
              <a:t>uid</a:t>
            </a:r>
            <a:r>
              <a:rPr lang="en-US" dirty="0"/>
              <a:t>, gid, mode, size, hash.sha256 FROM file WHERE path = '/</a:t>
            </a:r>
            <a:r>
              <a:rPr lang="en-US" dirty="0" err="1"/>
              <a:t>etc</a:t>
            </a:r>
            <a:r>
              <a:rPr lang="en-US" dirty="0"/>
              <a:t>/</a:t>
            </a:r>
            <a:r>
              <a:rPr lang="en-US" dirty="0" err="1"/>
              <a:t>ld.so.preload</a:t>
            </a:r>
            <a:r>
              <a:rPr lang="en-US" dirty="0"/>
              <a:t>';</a:t>
            </a:r>
          </a:p>
          <a:p>
            <a:pPr lvl="1"/>
            <a:endParaRPr lang="en-US" dirty="0">
              <a:latin typeface="Helvetica Light"/>
            </a:endParaRPr>
          </a:p>
          <a:p>
            <a:endParaRPr lang="en-US" dirty="0"/>
          </a:p>
        </p:txBody>
      </p:sp>
    </p:spTree>
    <p:extLst>
      <p:ext uri="{BB962C8B-B14F-4D97-AF65-F5344CB8AC3E}">
        <p14:creationId xmlns:p14="http://schemas.microsoft.com/office/powerpoint/2010/main" val="2914273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D5E0E-C0F8-0D7A-C7F0-C7C3CF0CE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53FCD5-23A5-6C11-EDF7-C868DBBC4C8B}"/>
              </a:ext>
            </a:extLst>
          </p:cNvPr>
          <p:cNvSpPr>
            <a:spLocks noGrp="1"/>
          </p:cNvSpPr>
          <p:nvPr>
            <p:ph type="title"/>
          </p:nvPr>
        </p:nvSpPr>
        <p:spPr/>
        <p:txBody>
          <a:bodyPr>
            <a:normAutofit/>
          </a:bodyPr>
          <a:lstStyle/>
          <a:p>
            <a:r>
              <a:rPr lang="en-US" sz="4400" dirty="0" err="1">
                <a:latin typeface="Georgia" panose="02040502050405020303" pitchFamily="18" charset="0"/>
              </a:rPr>
              <a:t>Ld_preload</a:t>
            </a:r>
            <a:r>
              <a:rPr lang="en-US" sz="4400" dirty="0">
                <a:latin typeface="Georgia" panose="02040502050405020303" pitchFamily="18" charset="0"/>
              </a:rPr>
              <a:t> detection (3)</a:t>
            </a:r>
          </a:p>
        </p:txBody>
      </p:sp>
      <p:sp>
        <p:nvSpPr>
          <p:cNvPr id="4" name="Content Placeholder 2">
            <a:extLst>
              <a:ext uri="{FF2B5EF4-FFF2-40B4-BE49-F238E27FC236}">
                <a16:creationId xmlns:a16="http://schemas.microsoft.com/office/drawing/2014/main" id="{D8984D9F-53A9-52AA-72C1-BFDD798C4713}"/>
              </a:ext>
            </a:extLst>
          </p:cNvPr>
          <p:cNvSpPr txBox="1">
            <a:spLocks/>
          </p:cNvSpPr>
          <p:nvPr/>
        </p:nvSpPr>
        <p:spPr>
          <a:xfrm>
            <a:off x="5811423" y="2142066"/>
            <a:ext cx="10131425" cy="3649133"/>
          </a:xfrm>
          <a:prstGeom prst="rect">
            <a:avLst/>
          </a:prstGeom>
        </p:spPr>
        <p:txBody>
          <a:bodyPr vert="horz" lIns="91440" tIns="45720" rIns="91440" bIns="45720" rtlCol="0" anchor="t" anchorCtr="0">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endParaRPr lang="en-US" sz="2000" dirty="0">
              <a:latin typeface="Helvetica Light"/>
            </a:endParaRPr>
          </a:p>
        </p:txBody>
      </p:sp>
      <p:sp>
        <p:nvSpPr>
          <p:cNvPr id="6" name="Content Placeholder 5">
            <a:extLst>
              <a:ext uri="{FF2B5EF4-FFF2-40B4-BE49-F238E27FC236}">
                <a16:creationId xmlns:a16="http://schemas.microsoft.com/office/drawing/2014/main" id="{BF54CFAC-772B-B48C-A482-48283FAE770F}"/>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E64CC288-2FF6-8B87-E918-733D22804F9C}"/>
              </a:ext>
            </a:extLst>
          </p:cNvPr>
          <p:cNvPicPr>
            <a:picLocks noChangeAspect="1"/>
          </p:cNvPicPr>
          <p:nvPr/>
        </p:nvPicPr>
        <p:blipFill>
          <a:blip r:embed="rId3"/>
          <a:stretch>
            <a:fillRect/>
          </a:stretch>
        </p:blipFill>
        <p:spPr>
          <a:xfrm>
            <a:off x="129660" y="2142066"/>
            <a:ext cx="11714107" cy="3649133"/>
          </a:xfrm>
          <a:prstGeom prst="rect">
            <a:avLst/>
          </a:prstGeom>
        </p:spPr>
      </p:pic>
    </p:spTree>
    <p:extLst>
      <p:ext uri="{BB962C8B-B14F-4D97-AF65-F5344CB8AC3E}">
        <p14:creationId xmlns:p14="http://schemas.microsoft.com/office/powerpoint/2010/main" val="741222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D4F1D-CCE1-8EC7-0F63-D245BF0E2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1FEC28-CC66-4460-9B0C-975EDAF837D5}"/>
              </a:ext>
            </a:extLst>
          </p:cNvPr>
          <p:cNvSpPr>
            <a:spLocks noGrp="1"/>
          </p:cNvSpPr>
          <p:nvPr>
            <p:ph type="title"/>
          </p:nvPr>
        </p:nvSpPr>
        <p:spPr/>
        <p:txBody>
          <a:bodyPr>
            <a:normAutofit/>
          </a:bodyPr>
          <a:lstStyle/>
          <a:p>
            <a:r>
              <a:rPr lang="en-US" sz="4400" dirty="0">
                <a:latin typeface="Georgia" panose="02040502050405020303" pitchFamily="18" charset="0"/>
              </a:rPr>
              <a:t>Takeaways (1)</a:t>
            </a:r>
          </a:p>
        </p:txBody>
      </p:sp>
      <p:sp>
        <p:nvSpPr>
          <p:cNvPr id="3" name="Content Placeholder 2">
            <a:extLst>
              <a:ext uri="{FF2B5EF4-FFF2-40B4-BE49-F238E27FC236}">
                <a16:creationId xmlns:a16="http://schemas.microsoft.com/office/drawing/2014/main" id="{EC147F33-04E3-B08A-B285-28E00328C41D}"/>
              </a:ext>
            </a:extLst>
          </p:cNvPr>
          <p:cNvSpPr>
            <a:spLocks noGrp="1"/>
          </p:cNvSpPr>
          <p:nvPr>
            <p:ph idx="1"/>
          </p:nvPr>
        </p:nvSpPr>
        <p:spPr>
          <a:xfrm>
            <a:off x="685801" y="2142067"/>
            <a:ext cx="10131425" cy="4414850"/>
          </a:xfrm>
        </p:spPr>
        <p:txBody>
          <a:bodyPr anchor="t" anchorCtr="0">
            <a:noAutofit/>
          </a:bodyPr>
          <a:lstStyle/>
          <a:p>
            <a:r>
              <a:rPr lang="en-US" sz="2000" dirty="0">
                <a:latin typeface="Helvetica Light"/>
              </a:rPr>
              <a:t>Baseline and watch</a:t>
            </a:r>
          </a:p>
          <a:p>
            <a:pPr lvl="1"/>
            <a:r>
              <a:rPr lang="en-US" sz="2000" dirty="0">
                <a:latin typeface="Helvetica Light"/>
              </a:rPr>
              <a:t>/</a:t>
            </a:r>
            <a:r>
              <a:rPr lang="en-US" sz="2000" dirty="0" err="1">
                <a:latin typeface="Helvetica Light"/>
              </a:rPr>
              <a:t>etc</a:t>
            </a:r>
            <a:r>
              <a:rPr lang="en-US" sz="2000" dirty="0">
                <a:latin typeface="Helvetica Light"/>
              </a:rPr>
              <a:t>/</a:t>
            </a:r>
            <a:r>
              <a:rPr lang="en-US" sz="2000" dirty="0" err="1">
                <a:latin typeface="Helvetica Light"/>
              </a:rPr>
              <a:t>pam.d</a:t>
            </a:r>
            <a:r>
              <a:rPr lang="en-US" sz="2000" dirty="0">
                <a:latin typeface="Helvetica Light"/>
              </a:rPr>
              <a:t>/* - anything modified here is alerted.</a:t>
            </a:r>
          </a:p>
          <a:p>
            <a:pPr lvl="1"/>
            <a:r>
              <a:rPr lang="en-US" sz="2000" dirty="0">
                <a:latin typeface="Helvetica Light"/>
              </a:rPr>
              <a:t>/lib/x86_64-linux-gnu/security/ - PAM security module directory. Any new or modified .so files</a:t>
            </a:r>
          </a:p>
          <a:p>
            <a:pPr lvl="1"/>
            <a:r>
              <a:rPr lang="en-US" sz="2000" dirty="0">
                <a:latin typeface="Helvetica Light"/>
              </a:rPr>
              <a:t>/</a:t>
            </a:r>
            <a:r>
              <a:rPr lang="en-US" sz="2000" dirty="0" err="1">
                <a:latin typeface="Helvetica Light"/>
              </a:rPr>
              <a:t>etc</a:t>
            </a:r>
            <a:r>
              <a:rPr lang="en-US" sz="2000" dirty="0">
                <a:latin typeface="Helvetica Light"/>
              </a:rPr>
              <a:t>/</a:t>
            </a:r>
            <a:r>
              <a:rPr lang="en-US" sz="2000" dirty="0" err="1">
                <a:latin typeface="Helvetica Light"/>
              </a:rPr>
              <a:t>ld.so.preload</a:t>
            </a:r>
            <a:r>
              <a:rPr lang="en-US" sz="2000" dirty="0">
                <a:latin typeface="Helvetica Light"/>
              </a:rPr>
              <a:t> – presence of this should alert. It should not exist.</a:t>
            </a:r>
          </a:p>
          <a:p>
            <a:pPr lvl="1"/>
            <a:r>
              <a:rPr lang="en-US" sz="2000" dirty="0" err="1">
                <a:latin typeface="Helvetica Light"/>
              </a:rPr>
              <a:t>ld.so.conf.d</a:t>
            </a:r>
            <a:r>
              <a:rPr lang="en-US" sz="2000" dirty="0">
                <a:latin typeface="Helvetica Light"/>
              </a:rPr>
              <a:t>/* - Unexpected library paths</a:t>
            </a:r>
          </a:p>
          <a:p>
            <a:pPr lvl="1"/>
            <a:endParaRPr lang="en-US" sz="2000" dirty="0">
              <a:latin typeface="Helvetica Light"/>
            </a:endParaRPr>
          </a:p>
          <a:p>
            <a:r>
              <a:rPr lang="en-US" sz="2000" dirty="0">
                <a:latin typeface="Helvetica Light"/>
              </a:rPr>
              <a:t>Run regularly</a:t>
            </a:r>
          </a:p>
          <a:p>
            <a:pPr lvl="1"/>
            <a:r>
              <a:rPr lang="en-US" sz="2000" dirty="0" err="1">
                <a:latin typeface="Helvetica Light"/>
              </a:rPr>
              <a:t>dpkg</a:t>
            </a:r>
            <a:r>
              <a:rPr lang="en-US" sz="2000" dirty="0">
                <a:latin typeface="Helvetica Light"/>
              </a:rPr>
              <a:t> –V on Debian/Ubuntu / rpm –Va for RedHat</a:t>
            </a:r>
          </a:p>
          <a:p>
            <a:pPr lvl="1"/>
            <a:endParaRPr lang="en-US" sz="2000" dirty="0">
              <a:latin typeface="Helvetica Light"/>
            </a:endParaRPr>
          </a:p>
        </p:txBody>
      </p:sp>
    </p:spTree>
    <p:extLst>
      <p:ext uri="{BB962C8B-B14F-4D97-AF65-F5344CB8AC3E}">
        <p14:creationId xmlns:p14="http://schemas.microsoft.com/office/powerpoint/2010/main" val="4182612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9E8BE-0421-8C17-F670-4F15DB2856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9CADD9-7083-F690-FA74-B6C94627BCE5}"/>
              </a:ext>
            </a:extLst>
          </p:cNvPr>
          <p:cNvSpPr>
            <a:spLocks noGrp="1"/>
          </p:cNvSpPr>
          <p:nvPr>
            <p:ph type="title"/>
          </p:nvPr>
        </p:nvSpPr>
        <p:spPr/>
        <p:txBody>
          <a:bodyPr>
            <a:normAutofit/>
          </a:bodyPr>
          <a:lstStyle/>
          <a:p>
            <a:r>
              <a:rPr lang="en-US" sz="4400" dirty="0">
                <a:latin typeface="Georgia" panose="02040502050405020303" pitchFamily="18" charset="0"/>
              </a:rPr>
              <a:t>Takeaways (2)</a:t>
            </a:r>
          </a:p>
        </p:txBody>
      </p:sp>
      <p:sp>
        <p:nvSpPr>
          <p:cNvPr id="3" name="Content Placeholder 2">
            <a:extLst>
              <a:ext uri="{FF2B5EF4-FFF2-40B4-BE49-F238E27FC236}">
                <a16:creationId xmlns:a16="http://schemas.microsoft.com/office/drawing/2014/main" id="{A9D0269E-AF3E-37E3-7D61-3FBF4731AC1D}"/>
              </a:ext>
            </a:extLst>
          </p:cNvPr>
          <p:cNvSpPr>
            <a:spLocks noGrp="1"/>
          </p:cNvSpPr>
          <p:nvPr>
            <p:ph idx="1"/>
          </p:nvPr>
        </p:nvSpPr>
        <p:spPr>
          <a:xfrm>
            <a:off x="685801" y="2142067"/>
            <a:ext cx="10131425" cy="4414850"/>
          </a:xfrm>
        </p:spPr>
        <p:txBody>
          <a:bodyPr anchor="t" anchorCtr="0">
            <a:noAutofit/>
          </a:bodyPr>
          <a:lstStyle/>
          <a:p>
            <a:r>
              <a:rPr lang="en-US" sz="2000" dirty="0">
                <a:latin typeface="Helvetica Light"/>
              </a:rPr>
              <a:t>Deploy </a:t>
            </a:r>
            <a:r>
              <a:rPr lang="en-US" sz="2000" dirty="0" err="1">
                <a:latin typeface="Helvetica Light"/>
              </a:rPr>
              <a:t>auditd</a:t>
            </a:r>
            <a:r>
              <a:rPr lang="en-US" sz="2000" dirty="0">
                <a:latin typeface="Helvetica Light"/>
              </a:rPr>
              <a:t> to watch the above paths</a:t>
            </a:r>
          </a:p>
          <a:p>
            <a:r>
              <a:rPr lang="en-US" sz="2000" dirty="0">
                <a:latin typeface="Helvetica Light"/>
              </a:rPr>
              <a:t>Trust static binaries and /proc over hooked userland tools</a:t>
            </a:r>
          </a:p>
          <a:p>
            <a:r>
              <a:rPr lang="en-US" sz="2000" dirty="0">
                <a:latin typeface="Helvetica Light"/>
              </a:rPr>
              <a:t>When two views are different, the dynamic one is lying</a:t>
            </a:r>
          </a:p>
          <a:p>
            <a:r>
              <a:rPr lang="en-US" sz="2000" dirty="0">
                <a:latin typeface="Helvetica Light"/>
              </a:rPr>
              <a:t>Unpackaged files are a telltale sign</a:t>
            </a:r>
          </a:p>
        </p:txBody>
      </p:sp>
    </p:spTree>
    <p:extLst>
      <p:ext uri="{BB962C8B-B14F-4D97-AF65-F5344CB8AC3E}">
        <p14:creationId xmlns:p14="http://schemas.microsoft.com/office/powerpoint/2010/main" val="10579641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04FAA-A3E0-964B-4A35-B71EF8722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AE9B9-EB5E-7ED7-20CF-969F2B8B7916}"/>
              </a:ext>
            </a:extLst>
          </p:cNvPr>
          <p:cNvSpPr>
            <a:spLocks noGrp="1"/>
          </p:cNvSpPr>
          <p:nvPr>
            <p:ph type="title"/>
          </p:nvPr>
        </p:nvSpPr>
        <p:spPr/>
        <p:txBody>
          <a:bodyPr>
            <a:normAutofit/>
          </a:bodyPr>
          <a:lstStyle/>
          <a:p>
            <a:r>
              <a:rPr lang="en-US" sz="4400" dirty="0">
                <a:latin typeface="Georgia" panose="02040502050405020303" pitchFamily="18" charset="0"/>
              </a:rPr>
              <a:t>Resources + contact</a:t>
            </a:r>
          </a:p>
        </p:txBody>
      </p:sp>
      <p:sp>
        <p:nvSpPr>
          <p:cNvPr id="3" name="Content Placeholder 2">
            <a:extLst>
              <a:ext uri="{FF2B5EF4-FFF2-40B4-BE49-F238E27FC236}">
                <a16:creationId xmlns:a16="http://schemas.microsoft.com/office/drawing/2014/main" id="{62E12F63-0D8F-DEB4-66C7-43A4C881DD0D}"/>
              </a:ext>
            </a:extLst>
          </p:cNvPr>
          <p:cNvSpPr>
            <a:spLocks noGrp="1"/>
          </p:cNvSpPr>
          <p:nvPr>
            <p:ph idx="1"/>
          </p:nvPr>
        </p:nvSpPr>
        <p:spPr/>
        <p:txBody>
          <a:bodyPr anchor="t" anchorCtr="0">
            <a:noAutofit/>
          </a:bodyPr>
          <a:lstStyle/>
          <a:p>
            <a:r>
              <a:rPr lang="en-US" sz="2000" dirty="0">
                <a:latin typeface="Helvetica Light"/>
              </a:rPr>
              <a:t>Contact: https://www.linkedin.com/in/jason--trapp/</a:t>
            </a:r>
          </a:p>
          <a:p>
            <a:r>
              <a:rPr lang="en-US" sz="2000" dirty="0">
                <a:latin typeface="Helvetica Light"/>
              </a:rPr>
              <a:t>GitHub: https://github.com/jasontrapp</a:t>
            </a:r>
          </a:p>
          <a:p>
            <a:pPr lvl="1"/>
            <a:r>
              <a:rPr lang="en-US" sz="2000" dirty="0" err="1">
                <a:latin typeface="Helvetica Light"/>
              </a:rPr>
              <a:t>Auditd</a:t>
            </a:r>
            <a:r>
              <a:rPr lang="en-US" sz="2000" dirty="0">
                <a:latin typeface="Helvetica Light"/>
              </a:rPr>
              <a:t> rules</a:t>
            </a:r>
          </a:p>
          <a:p>
            <a:pPr lvl="1"/>
            <a:r>
              <a:rPr lang="en-US" sz="2000" dirty="0" err="1">
                <a:latin typeface="Helvetica Light"/>
              </a:rPr>
              <a:t>hook.c</a:t>
            </a:r>
            <a:endParaRPr lang="en-US" sz="2000" dirty="0">
              <a:latin typeface="Helvetica Light"/>
            </a:endParaRPr>
          </a:p>
          <a:p>
            <a:pPr lvl="1"/>
            <a:r>
              <a:rPr lang="en-US" sz="2000" dirty="0">
                <a:latin typeface="Helvetica Light"/>
              </a:rPr>
              <a:t>pam_marker.sh</a:t>
            </a:r>
          </a:p>
          <a:p>
            <a:pPr lvl="1"/>
            <a:r>
              <a:rPr lang="en-US" sz="2000" dirty="0">
                <a:latin typeface="Helvetica Light"/>
              </a:rPr>
              <a:t>Triage one-liners</a:t>
            </a:r>
          </a:p>
          <a:p>
            <a:r>
              <a:rPr lang="en-US" sz="2000" dirty="0">
                <a:latin typeface="Helvetica Light"/>
              </a:rPr>
              <a:t>https://attack.mitre.org/techniques/T1556/003/ - PAM</a:t>
            </a:r>
          </a:p>
          <a:p>
            <a:r>
              <a:rPr lang="en-US" sz="2000" dirty="0">
                <a:latin typeface="Helvetica Light"/>
              </a:rPr>
              <a:t>https://attack.mitre.org/techniques/T1574/006/ - Dynamic Linker Hijacking</a:t>
            </a:r>
          </a:p>
          <a:p>
            <a:endParaRPr lang="en-US" sz="2000" dirty="0">
              <a:latin typeface="Helvetica Light"/>
            </a:endParaRPr>
          </a:p>
        </p:txBody>
      </p:sp>
    </p:spTree>
    <p:extLst>
      <p:ext uri="{BB962C8B-B14F-4D97-AF65-F5344CB8AC3E}">
        <p14:creationId xmlns:p14="http://schemas.microsoft.com/office/powerpoint/2010/main" val="32856375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TM03457452[[fn=Celestial]]</Template>
  <TotalTime>18131</TotalTime>
  <Words>2857</Words>
  <Application>Microsoft Office PowerPoint</Application>
  <PresentationFormat>Widescreen</PresentationFormat>
  <Paragraphs>240</Paragraphs>
  <Slides>29</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Arial</vt:lpstr>
      <vt:lpstr>Calibri</vt:lpstr>
      <vt:lpstr>Calibri Light</vt:lpstr>
      <vt:lpstr>Georgia</vt:lpstr>
      <vt:lpstr>Helvetica Light</vt:lpstr>
      <vt:lpstr>Celestial</vt:lpstr>
      <vt:lpstr>Hooked: Tracking Linker and PAM Persistence on Linux </vt:lpstr>
      <vt:lpstr>About me</vt:lpstr>
      <vt:lpstr>What we typically hunt</vt:lpstr>
      <vt:lpstr>What we MIss</vt:lpstr>
      <vt:lpstr>LAB Setup</vt:lpstr>
      <vt:lpstr>PAM mECHANICS</vt:lpstr>
      <vt:lpstr>How pam is exploited</vt:lpstr>
      <vt:lpstr>Pam DEMO (1)</vt:lpstr>
      <vt:lpstr>Pam DEMO (2)</vt:lpstr>
      <vt:lpstr>Pam DEMO (3)</vt:lpstr>
      <vt:lpstr>Pam DEMO (4)</vt:lpstr>
      <vt:lpstr>Pam DEMO (5)</vt:lpstr>
      <vt:lpstr>Pam DEMO (6)</vt:lpstr>
      <vt:lpstr>Pam Detection (1)</vt:lpstr>
      <vt:lpstr>Pam Detection (2)</vt:lpstr>
      <vt:lpstr>LD_PRELOAD</vt:lpstr>
      <vt:lpstr>Ld_preload mechanics</vt:lpstr>
      <vt:lpstr>Ld_preload Exploitation</vt:lpstr>
      <vt:lpstr>Ld_preload demo (1)</vt:lpstr>
      <vt:lpstr>Ld_preload demo (2)</vt:lpstr>
      <vt:lpstr>Ld_preload demo (3)</vt:lpstr>
      <vt:lpstr>Ld_preload demo (4)</vt:lpstr>
      <vt:lpstr>Ld_preload demo (5)</vt:lpstr>
      <vt:lpstr>Ld_preload detection (1)</vt:lpstr>
      <vt:lpstr>Ld_preload detection (2)</vt:lpstr>
      <vt:lpstr>Ld_preload detection (3)</vt:lpstr>
      <vt:lpstr>Takeaways (1)</vt:lpstr>
      <vt:lpstr>Takeaways (2)</vt:lpstr>
      <vt:lpstr>Resources + contact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JasonTrapp</dc:creator>
  <cp:lastModifiedBy>jason trapp</cp:lastModifiedBy>
  <cp:revision>47</cp:revision>
  <dcterms:created xsi:type="dcterms:W3CDTF">2026-07-26T10:46:58Z</dcterms:created>
  <dcterms:modified xsi:type="dcterms:W3CDTF">2026-09-26T22:47:13Z</dcterms:modified>
</cp:coreProperties>
</file>